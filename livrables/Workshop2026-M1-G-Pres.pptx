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2c9dc462-5f2d-7a93-7e1d-3c4d0f9dc132}">
          <p14:sldIdLst>
            <p14:sldId id="256"/>
            <p14:sldId id="257"/>
            <p14:sldId id="258"/>
          </p14:sldIdLst>
        </p14:section>
        <p14:section name="Solution" id="{6312e15f-a1a8-cf0f-9def-6016aa6cb79e}">
          <p14:sldIdLst>
            <p14:sldId id="259"/>
            <p14:sldId id="260"/>
          </p14:sldIdLst>
        </p14:section>
        <p14:section name="Technique" id="{901c4187-384c-6641-61f9-9a2d9c658762}">
          <p14:sldIdLst>
            <p14:sldId id="261"/>
            <p14:sldId id="262"/>
            <p14:sldId id="263"/>
            <p14:sldId id="264"/>
          </p14:sldIdLst>
        </p14:section>
        <p14:section name="Bilan" id="{a8480c8d-a025-0495-23f6-f64dbd3ddbb5}">
          <p14:sldIdLst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Accroche : AetherCorp ne peut pas laisser du personnel sur ses micro-centrales isolées. SENTINEL-X les surveille seul : intrusion, surchauffe, fuite de gaz, attaques réseau. 1 minute de présentation, puis le teaser.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Chacun présente sa filière en une phrase. Compléter le nom du membre CYBER et le numéro de groupe.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Problématique : comment détecter seul, en temps réel et de façon sûre, ces trois menaces ? Réponse : un boîtier Edge + un PC serveur local durci.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 B : le PC d'un apprenant est le serveur local. Tout passe par MQTTS : le boîtier publie, le backend centralise, l'IA analyse, le dashboard et Grafana supervisent. Une intrusion allume automatiquement buzzer et LED du boîtier.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Minute 2 : lancer la vidéo. Minutes 3 à 5 : démo live dans cet ordre. Préparer à l'avance : boîtier virtuel (:8090), dashboard (:5173), Grafana (:3001), webcam.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personne inconnue n'est pas une alarme immédiate : on laisse 20 s, avec tolérance si le visage est perdu une seconde. Limite honnête : avec la reconnaissance faciale et le pointage, la latence dépasse parfois 100 ms sur notre PC.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Résultats mesurés sur 50 scénarios simulés indépendants de l'entraînement, et 20 boîtiers virtuels : 0 fausse alerte en 30 min, 20/20 surchauffes détectées vers 25 °C.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Deux publics : l'opérateur agit dans le dashboard ; l'exploitant suit la santé du système et l'historique dans Grafana (exigence MCO).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Preuve matérielle du chiffrement (axe 2) : lancer check_security.py en direct ou montrer les logs Mosquitto 'negotiated TLSv1.3'. Détail : docs/SECURITE.md.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un choix par filière. Compléter la ligne Fabrication avec l'état réel du boîtier imprimé et gravé.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jury apprécie la lucidité : chaque limite a une cause identifiée et une piste.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Chacun dit en une phrase ce qu'il a appris. Remplacer les [à compléter].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Ouvrir sur la suite : ce que deviendrait SENTINEL-X en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 du pitch. Garder Grafana et le dashboard ouverts pour répondre aux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8229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Titre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383280"/>
            <a:ext cx="8229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Sous-titre</a:t>
            </a: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Titre</a:t>
            </a: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FORTEX · SENTINEL-X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_SOMBR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Titre</a:t>
            </a: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FORTEX · SENTINEL-X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SENTINEL-X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383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L'avant-poste industriel du futur · Consortium FORTEX</a:t>
            </a:r>
            <a:endParaRPr lang="en-US" sz="2200" dirty="0"/>
          </a:p>
        </p:txBody>
      </p:sp>
      <p:sp>
        <p:nvSpPr>
          <p:cNvPr id="4" name="Icone bouclier fond"/>
          <p:cNvSpPr/>
          <p:nvPr/>
        </p:nvSpPr>
        <p:spPr>
          <a:xfrm>
            <a:off x="9326880" y="2011680"/>
            <a:ext cx="2011680" cy="2011680"/>
          </a:xfrm>
          <a:prstGeom prst="ellipse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pic>
        <p:nvPicPr>
          <p:cNvPr id="5" name="Icone boucli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51460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4754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Sentinel-X : la sécurité à la bordure. »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EPSI Bac+4 · Octobre 2026 · Groupe G[n] · Option B (PC Serveur Local)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consortium de quatre filières</a:t>
            </a:r>
            <a:endParaRPr lang="en-US" sz="3400" dirty="0"/>
          </a:p>
        </p:txBody>
      </p:sp>
      <p:sp>
        <p:nvSpPr>
          <p:cNvPr id="3" name="Carte DEV"/>
          <p:cNvSpPr/>
          <p:nvPr/>
        </p:nvSpPr>
        <p:spPr>
          <a:xfrm>
            <a:off x="548640" y="1463040"/>
            <a:ext cx="2606040" cy="3657600"/>
          </a:xfrm>
          <a:prstGeom prst="roundRect">
            <a:avLst>
              <a:gd name="adj" fmla="val 421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" name="Icone DEV fond"/>
          <p:cNvSpPr/>
          <p:nvPr/>
        </p:nvSpPr>
        <p:spPr>
          <a:xfrm>
            <a:off x="1325880" y="1783080"/>
            <a:ext cx="1051560" cy="1051560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pic>
        <p:nvPicPr>
          <p:cNvPr id="5" name="Icone DEV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8770" y="2045970"/>
            <a:ext cx="525780" cy="5257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3063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Kephren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520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0690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React, API, firmware ESP8266</a:t>
            </a:r>
            <a:endParaRPr lang="en-US" sz="1400" dirty="0"/>
          </a:p>
        </p:txBody>
      </p:sp>
      <p:sp>
        <p:nvSpPr>
          <p:cNvPr id="9" name="Carte IA &amp; Data"/>
          <p:cNvSpPr/>
          <p:nvPr/>
        </p:nvSpPr>
        <p:spPr>
          <a:xfrm>
            <a:off x="3364992" y="1463040"/>
            <a:ext cx="2606040" cy="3657600"/>
          </a:xfrm>
          <a:prstGeom prst="roundRect">
            <a:avLst>
              <a:gd name="adj" fmla="val 421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" name="Icone IA &amp; Data fond"/>
          <p:cNvSpPr/>
          <p:nvPr/>
        </p:nvSpPr>
        <p:spPr>
          <a:xfrm>
            <a:off x="4142232" y="1783080"/>
            <a:ext cx="1051560" cy="105156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pic>
        <p:nvPicPr>
          <p:cNvPr id="11" name="Icone IA &amp; Dat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5122" y="2045970"/>
            <a:ext cx="525780" cy="5257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47872" y="3063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Mamadou SECK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3547872" y="3520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&amp; Data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593592" y="40690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YOLOv8, maintenance prédictive, backend</a:t>
            </a:r>
            <a:endParaRPr lang="en-US" sz="1400" dirty="0"/>
          </a:p>
        </p:txBody>
      </p:sp>
      <p:sp>
        <p:nvSpPr>
          <p:cNvPr id="15" name="Carte INFRA"/>
          <p:cNvSpPr/>
          <p:nvPr/>
        </p:nvSpPr>
        <p:spPr>
          <a:xfrm>
            <a:off x="6181344" y="1463040"/>
            <a:ext cx="2606040" cy="3657600"/>
          </a:xfrm>
          <a:prstGeom prst="roundRect">
            <a:avLst>
              <a:gd name="adj" fmla="val 421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6" name="Icone INFRA fond"/>
          <p:cNvSpPr/>
          <p:nvPr/>
        </p:nvSpPr>
        <p:spPr>
          <a:xfrm>
            <a:off x="6958584" y="1783080"/>
            <a:ext cx="1051560" cy="105156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17" name="Icone INFRA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1474" y="2045970"/>
            <a:ext cx="525780" cy="5257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64224" y="3063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Ismahel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6364224" y="3520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409944" y="40690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Compose, MQTT, PostgreSQL, réseau</a:t>
            </a:r>
            <a:endParaRPr lang="en-US" sz="1400" dirty="0"/>
          </a:p>
        </p:txBody>
      </p:sp>
      <p:sp>
        <p:nvSpPr>
          <p:cNvPr id="21" name="Carte CYBER"/>
          <p:cNvSpPr/>
          <p:nvPr/>
        </p:nvSpPr>
        <p:spPr>
          <a:xfrm>
            <a:off x="8997696" y="1463040"/>
            <a:ext cx="2606040" cy="3657600"/>
          </a:xfrm>
          <a:prstGeom prst="roundRect">
            <a:avLst>
              <a:gd name="adj" fmla="val 421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2" name="Icone CYBER fond"/>
          <p:cNvSpPr/>
          <p:nvPr/>
        </p:nvSpPr>
        <p:spPr>
          <a:xfrm>
            <a:off x="9774936" y="1783080"/>
            <a:ext cx="1051560" cy="105156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23" name="Icone CYBER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7826" y="2045970"/>
            <a:ext cx="525780" cy="52578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180576" y="3063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[Nom]</a:t>
            </a:r>
            <a:endParaRPr lang="en-US" sz="2000" dirty="0"/>
          </a:p>
        </p:txBody>
      </p:sp>
      <p:sp>
        <p:nvSpPr>
          <p:cNvPr id="25" name="Text 19"/>
          <p:cNvSpPr txBox="1"/>
          <p:nvPr/>
        </p:nvSpPr>
        <p:spPr>
          <a:xfrm>
            <a:off x="9180576" y="3520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9226296" y="40690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TLS, durcissement, pentest croisé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menaces sur des centrales sans personnel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AetherCorp déploie des micro-centrales en zones isolées : impossible d'y maintenir une équipe en permanence.</a:t>
            </a:r>
            <a:endParaRPr lang="en-US" sz="1800" dirty="0"/>
          </a:p>
        </p:txBody>
      </p:sp>
      <p:sp>
        <p:nvSpPr>
          <p:cNvPr id="4" name="Menace Intrusion physique"/>
          <p:cNvSpPr/>
          <p:nvPr/>
        </p:nvSpPr>
        <p:spPr>
          <a:xfrm>
            <a:off x="548640" y="210312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Icone Intrusion physique fond"/>
          <p:cNvSpPr/>
          <p:nvPr/>
        </p:nvSpPr>
        <p:spPr>
          <a:xfrm>
            <a:off x="868680" y="2423160"/>
            <a:ext cx="914400" cy="9144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6" name="Icone Intrusion physiqu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6517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520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Intrusion physique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06908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Espionnage industriel : une personne non autorisée s'approche du site.</a:t>
            </a:r>
            <a:endParaRPr lang="en-US" sz="1500" dirty="0"/>
          </a:p>
        </p:txBody>
      </p:sp>
      <p:sp>
        <p:nvSpPr>
          <p:cNvPr id="9" name="Menace Environnement"/>
          <p:cNvSpPr/>
          <p:nvPr/>
        </p:nvSpPr>
        <p:spPr>
          <a:xfrm>
            <a:off x="4297680" y="210312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" name="Icone Environnement fond"/>
          <p:cNvSpPr/>
          <p:nvPr/>
        </p:nvSpPr>
        <p:spPr>
          <a:xfrm>
            <a:off x="4617720" y="2423160"/>
            <a:ext cx="914400" cy="9144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pic>
        <p:nvPicPr>
          <p:cNvPr id="11" name="Icone Environnemen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6517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3520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Environnement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406908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Surchauffe thermique, fuite de gaz combustible : souvent une dérive lente avant l'incident.</a:t>
            </a:r>
            <a:endParaRPr lang="en-US" sz="1500" dirty="0"/>
          </a:p>
        </p:txBody>
      </p:sp>
      <p:sp>
        <p:nvSpPr>
          <p:cNvPr id="14" name="Menace Cyberattaque"/>
          <p:cNvSpPr/>
          <p:nvPr/>
        </p:nvSpPr>
        <p:spPr>
          <a:xfrm>
            <a:off x="8046720" y="210312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5" name="Icone Cyberattaque fond"/>
          <p:cNvSpPr/>
          <p:nvPr/>
        </p:nvSpPr>
        <p:spPr>
          <a:xfrm>
            <a:off x="8366760" y="2423160"/>
            <a:ext cx="914400" cy="914400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pic>
        <p:nvPicPr>
          <p:cNvPr id="16" name="Icone Cyberattaqu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65176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66760" y="3520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Cyberattaque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406908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Déstabilisation réseau, interception (MitM), injection de fausses mesures.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solution : de la mesure à l'alarme, chiffré</a:t>
            </a:r>
            <a:endParaRPr lang="en-US" sz="3400" dirty="0"/>
          </a:p>
        </p:txBody>
      </p:sp>
      <p:sp>
        <p:nvSpPr>
          <p:cNvPr id="3" name="Bloc Boîtier ESP8266"/>
          <p:cNvSpPr/>
          <p:nvPr/>
        </p:nvSpPr>
        <p:spPr>
          <a:xfrm>
            <a:off x="548640" y="182880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93852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Boîtier ESP8266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377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 · MQ-2 · PIR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· buzzer · LEDs</a:t>
            </a:r>
            <a:endParaRPr lang="en-US" sz="1300" dirty="0"/>
          </a:p>
        </p:txBody>
      </p:sp>
      <p:sp>
        <p:nvSpPr>
          <p:cNvPr id="6" name="Bloc Webcam USB"/>
          <p:cNvSpPr/>
          <p:nvPr/>
        </p:nvSpPr>
        <p:spPr>
          <a:xfrm>
            <a:off x="548640" y="402336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413308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Webcam USB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5720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640x480</a:t>
            </a:r>
            <a:endParaRPr lang="en-US" sz="1300" dirty="0"/>
          </a:p>
        </p:txBody>
      </p:sp>
      <p:sp>
        <p:nvSpPr>
          <p:cNvPr id="9" name="Bloc Mosquitto"/>
          <p:cNvSpPr/>
          <p:nvPr/>
        </p:nvSpPr>
        <p:spPr>
          <a:xfrm>
            <a:off x="3657600" y="182880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94760" y="19385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Mosquitto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794760" y="23774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MQTTS · comptes · ACL</a:t>
            </a:r>
            <a:endParaRPr lang="en-US" sz="1300" dirty="0"/>
          </a:p>
        </p:txBody>
      </p:sp>
      <p:sp>
        <p:nvSpPr>
          <p:cNvPr id="12" name="Bloc IA vision"/>
          <p:cNvSpPr/>
          <p:nvPr/>
        </p:nvSpPr>
        <p:spPr>
          <a:xfrm>
            <a:off x="3657600" y="402336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94760" y="413308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vision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794760" y="45720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+ visages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 après 20 s</a:t>
            </a:r>
            <a:endParaRPr lang="en-US" sz="1300" dirty="0"/>
          </a:p>
        </p:txBody>
      </p:sp>
      <p:sp>
        <p:nvSpPr>
          <p:cNvPr id="15" name="Bloc Backend FastAPI"/>
          <p:cNvSpPr/>
          <p:nvPr/>
        </p:nvSpPr>
        <p:spPr>
          <a:xfrm>
            <a:off x="6675120" y="292608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12280" y="30358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FastAPI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812280" y="34747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· WebSocket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alarme auto</a:t>
            </a:r>
            <a:endParaRPr lang="en-US" sz="1300" dirty="0"/>
          </a:p>
        </p:txBody>
      </p:sp>
      <p:sp>
        <p:nvSpPr>
          <p:cNvPr id="18" name="Bloc IA prédictive"/>
          <p:cNvSpPr/>
          <p:nvPr/>
        </p:nvSpPr>
        <p:spPr>
          <a:xfrm>
            <a:off x="6675120" y="4846320"/>
            <a:ext cx="2286000" cy="1097280"/>
          </a:xfrm>
          <a:prstGeom prst="roundRect">
            <a:avLst>
              <a:gd name="adj" fmla="val 100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12280" y="49560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prédictive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812280" y="5394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300" dirty="0"/>
          </a:p>
        </p:txBody>
      </p:sp>
      <p:sp>
        <p:nvSpPr>
          <p:cNvPr id="21" name="Bloc PostgreSQL"/>
          <p:cNvSpPr/>
          <p:nvPr/>
        </p:nvSpPr>
        <p:spPr>
          <a:xfrm>
            <a:off x="9601200" y="1645920"/>
            <a:ext cx="2103120" cy="1097280"/>
          </a:xfrm>
          <a:prstGeom prst="roundRect">
            <a:avLst>
              <a:gd name="adj" fmla="val 10000"/>
            </a:avLst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738360" y="17556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738360" y="2194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</a:t>
            </a:r>
            <a:endParaRPr lang="en-US" sz="1300" dirty="0"/>
          </a:p>
        </p:txBody>
      </p:sp>
      <p:sp>
        <p:nvSpPr>
          <p:cNvPr id="24" name="Bloc Dashboard React"/>
          <p:cNvSpPr/>
          <p:nvPr/>
        </p:nvSpPr>
        <p:spPr>
          <a:xfrm>
            <a:off x="9601200" y="3017520"/>
            <a:ext cx="2103120" cy="1097280"/>
          </a:xfrm>
          <a:prstGeom prst="roundRect">
            <a:avLst>
              <a:gd name="adj" fmla="val 10000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738360" y="31272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React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738360" y="3566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· commandes</a:t>
            </a:r>
            <a:endParaRPr lang="en-US" sz="1300" dirty="0"/>
          </a:p>
        </p:txBody>
      </p:sp>
      <p:sp>
        <p:nvSpPr>
          <p:cNvPr id="27" name="Bloc Grafana"/>
          <p:cNvSpPr/>
          <p:nvPr/>
        </p:nvSpPr>
        <p:spPr>
          <a:xfrm>
            <a:off x="9601200" y="4389120"/>
            <a:ext cx="2103120" cy="1097280"/>
          </a:xfrm>
          <a:prstGeom prst="roundRect">
            <a:avLst>
              <a:gd name="adj" fmla="val 10000"/>
            </a:avLst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738360" y="44988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9738360" y="4937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capteurs · MCO</a:t>
            </a:r>
            <a:endParaRPr lang="en-US" sz="1300" dirty="0"/>
          </a:p>
        </p:txBody>
      </p:sp>
      <p:sp>
        <p:nvSpPr>
          <p:cNvPr id="30" name="Fleche "/>
          <p:cNvSpPr/>
          <p:nvPr/>
        </p:nvSpPr>
        <p:spPr>
          <a:xfrm>
            <a:off x="2926080" y="2514600"/>
            <a:ext cx="731520" cy="9144"/>
          </a:xfrm>
          <a:prstGeom prst="line">
            <a:avLst/>
          </a:prstGeom>
          <a:noFill/>
          <a:ln w="25400">
            <a:solidFill>
              <a:srgbClr val="1C2B3A"/>
            </a:solidFill>
            <a:prstDash val="solid"/>
            <a:tailEnd type="triangle"/>
          </a:ln>
        </p:spPr>
      </p:sp>
      <p:sp>
        <p:nvSpPr>
          <p:cNvPr id="31" name="Fleche "/>
          <p:cNvSpPr/>
          <p:nvPr/>
        </p:nvSpPr>
        <p:spPr>
          <a:xfrm>
            <a:off x="2926080" y="4709160"/>
            <a:ext cx="731520" cy="9144"/>
          </a:xfrm>
          <a:prstGeom prst="line">
            <a:avLst/>
          </a:prstGeom>
          <a:noFill/>
          <a:ln w="25400">
            <a:solidFill>
              <a:srgbClr val="1C2B3A"/>
            </a:solidFill>
            <a:prstDash val="solid"/>
            <a:tailEnd type="triangle"/>
          </a:ln>
        </p:spPr>
      </p:sp>
      <p:sp>
        <p:nvSpPr>
          <p:cNvPr id="32" name="Fleche "/>
          <p:cNvSpPr/>
          <p:nvPr/>
        </p:nvSpPr>
        <p:spPr>
          <a:xfrm>
            <a:off x="5943600" y="2651760"/>
            <a:ext cx="731520" cy="731520"/>
          </a:xfrm>
          <a:prstGeom prst="line">
            <a:avLst/>
          </a:prstGeom>
          <a:noFill/>
          <a:ln w="25400">
            <a:solidFill>
              <a:srgbClr val="1C2B3A"/>
            </a:solidFill>
            <a:prstDash val="solid"/>
            <a:tailEnd type="triangle"/>
          </a:ln>
        </p:spPr>
      </p:sp>
      <p:sp>
        <p:nvSpPr>
          <p:cNvPr id="33" name="Fleche "/>
          <p:cNvSpPr/>
          <p:nvPr/>
        </p:nvSpPr>
        <p:spPr>
          <a:xfrm flipV="1">
            <a:off x="5943600" y="3840480"/>
            <a:ext cx="731520" cy="868680"/>
          </a:xfrm>
          <a:prstGeom prst="line">
            <a:avLst/>
          </a:prstGeom>
          <a:noFill/>
          <a:ln w="25400">
            <a:solidFill>
              <a:srgbClr val="1C2B3A"/>
            </a:solidFill>
            <a:prstDash val="solid"/>
            <a:tailEnd type="triangle"/>
          </a:ln>
        </p:spPr>
      </p:sp>
      <p:sp>
        <p:nvSpPr>
          <p:cNvPr id="34" name="Fleche IA predictive vers backend"/>
          <p:cNvSpPr/>
          <p:nvPr/>
        </p:nvSpPr>
        <p:spPr>
          <a:xfrm flipV="1">
            <a:off x="7818120" y="4297680"/>
            <a:ext cx="9144" cy="548640"/>
          </a:xfrm>
          <a:prstGeom prst="line">
            <a:avLst/>
          </a:prstGeom>
          <a:noFill/>
          <a:ln w="25400">
            <a:solidFill>
              <a:srgbClr val="1C2B3A"/>
            </a:solidFill>
            <a:prstDash val="solid"/>
            <a:tailEnd type="triangle"/>
          </a:ln>
        </p:spPr>
      </p:sp>
      <p:sp>
        <p:nvSpPr>
          <p:cNvPr id="35" name="Fleche "/>
          <p:cNvSpPr/>
          <p:nvPr/>
        </p:nvSpPr>
        <p:spPr>
          <a:xfrm flipV="1">
            <a:off x="8961120" y="2194560"/>
            <a:ext cx="640080" cy="1097280"/>
          </a:xfrm>
          <a:prstGeom prst="line">
            <a:avLst/>
          </a:prstGeom>
          <a:noFill/>
          <a:ln w="25400">
            <a:solidFill>
              <a:srgbClr val="1C2B3A"/>
            </a:solidFill>
            <a:prstDash val="solid"/>
            <a:tailEnd type="triangle"/>
          </a:ln>
        </p:spPr>
      </p:sp>
      <p:sp>
        <p:nvSpPr>
          <p:cNvPr id="36" name="Fleche "/>
          <p:cNvSpPr/>
          <p:nvPr/>
        </p:nvSpPr>
        <p:spPr>
          <a:xfrm>
            <a:off x="8961120" y="3566160"/>
            <a:ext cx="640080" cy="9144"/>
          </a:xfrm>
          <a:prstGeom prst="line">
            <a:avLst/>
          </a:prstGeom>
          <a:noFill/>
          <a:ln w="25400">
            <a:solidFill>
              <a:srgbClr val="1C2B3A"/>
            </a:solidFill>
            <a:prstDash val="solid"/>
            <a:tailEnd type="triangle"/>
          </a:ln>
        </p:spPr>
      </p:sp>
      <p:sp>
        <p:nvSpPr>
          <p:cNvPr id="37" name="Fleche "/>
          <p:cNvSpPr/>
          <p:nvPr/>
        </p:nvSpPr>
        <p:spPr>
          <a:xfrm>
            <a:off x="8961120" y="3840480"/>
            <a:ext cx="640080" cy="1097280"/>
          </a:xfrm>
          <a:prstGeom prst="line">
            <a:avLst/>
          </a:prstGeom>
          <a:noFill/>
          <a:ln w="25400">
            <a:solidFill>
              <a:srgbClr val="1C2B3A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548640" y="58978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chiffré (TLS 1.3) · le boîtier est simulé par un boîtier virtuel au protocole identique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 : teaser « Sentinel Drop » puis live</a:t>
            </a:r>
            <a:endParaRPr lang="en-US" sz="3400" dirty="0"/>
          </a:p>
        </p:txBody>
      </p:sp>
      <p:sp>
        <p:nvSpPr>
          <p:cNvPr id="3" name="Cadre video"/>
          <p:cNvSpPr/>
          <p:nvPr/>
        </p:nvSpPr>
        <p:spPr>
          <a:xfrm>
            <a:off x="548640" y="1371600"/>
            <a:ext cx="3840480" cy="4754880"/>
          </a:xfrm>
          <a:prstGeom prst="roundRect">
            <a:avLst>
              <a:gd name="adj" fmla="val 2857"/>
            </a:avLst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4" name="Icone lecture fond"/>
          <p:cNvSpPr/>
          <p:nvPr/>
        </p:nvSpPr>
        <p:spPr>
          <a:xfrm>
            <a:off x="1783080" y="2743200"/>
            <a:ext cx="1371600" cy="13716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pic>
        <p:nvPicPr>
          <p:cNvPr id="5" name="Icone lectur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5980" y="3086100"/>
            <a:ext cx="685800" cy="6858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43891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 9:16 · 60 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Workshop2026-M1-G[n]-VidDrop.mp4</a:t>
            </a:r>
            <a:endParaRPr lang="en-US" sz="1400" dirty="0"/>
          </a:p>
        </p:txBody>
      </p:sp>
      <p:sp>
        <p:nvSpPr>
          <p:cNvPr id="7" name="Etape 1"/>
          <p:cNvSpPr/>
          <p:nvPr/>
        </p:nvSpPr>
        <p:spPr>
          <a:xfrm>
            <a:off x="4937760" y="14630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937760" y="1463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5852160" y="1417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Surchauffe lente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852160" y="18288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prédictive alerte vers 25 °C, bien avant le seuil de 40 °C</a:t>
            </a:r>
            <a:endParaRPr lang="en-US" sz="1500" dirty="0"/>
          </a:p>
        </p:txBody>
      </p:sp>
      <p:sp>
        <p:nvSpPr>
          <p:cNvPr id="11" name="Etape 2"/>
          <p:cNvSpPr/>
          <p:nvPr/>
        </p:nvSpPr>
        <p:spPr>
          <a:xfrm>
            <a:off x="4937760" y="26060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937760" y="2606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5852160" y="2560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Personne autorisée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5852160" y="29718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Reconnue (cadre vert, nom et rôle) : aucune alarme</a:t>
            </a:r>
            <a:endParaRPr lang="en-US" sz="1500" dirty="0"/>
          </a:p>
        </p:txBody>
      </p:sp>
      <p:sp>
        <p:nvSpPr>
          <p:cNvPr id="15" name="Etape 3"/>
          <p:cNvSpPr/>
          <p:nvPr/>
        </p:nvSpPr>
        <p:spPr>
          <a:xfrm>
            <a:off x="4937760" y="37490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937760" y="3749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5852160" y="3703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Intrus 20 s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5852160" y="41148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Alarme : alerte dashboard + buzzer et LED du boîtier</a:t>
            </a:r>
            <a:endParaRPr lang="en-US" sz="1500" dirty="0"/>
          </a:p>
        </p:txBody>
      </p:sp>
      <p:sp>
        <p:nvSpPr>
          <p:cNvPr id="19" name="Etape 4"/>
          <p:cNvSpPr/>
          <p:nvPr/>
        </p:nvSpPr>
        <p:spPr>
          <a:xfrm>
            <a:off x="4937760" y="48920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937760" y="4892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0" y="4846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Superviseur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5852160" y="52578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Coupe l'alarme depuis le dashboard, suit l'historique dans Grafana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vision : qui est là, et depuis combien de temps</a:t>
            </a:r>
            <a:endParaRPr lang="en-US" sz="3400" dirty="0"/>
          </a:p>
        </p:txBody>
      </p:sp>
      <p:sp>
        <p:nvSpPr>
          <p:cNvPr id="3" name="Capture camera cadre"/>
          <p:cNvSpPr/>
          <p:nvPr/>
        </p:nvSpPr>
        <p:spPr>
          <a:xfrm>
            <a:off x="502920" y="1325880"/>
            <a:ext cx="5852160" cy="4398264"/>
          </a:xfrm>
          <a:prstGeom prst="roundRect">
            <a:avLst>
              <a:gd name="adj" fmla="val 166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4" name="Capture camera" descr="C:\Users\modou\AppData\Local\Temp\claude\c--Users-modou-presence-ia\4fbdd09d-6d34-4ee3-b181-9e3396076b9c\scratchpad\shots\camera_fe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760720" cy="43068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766560" y="14173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YOLOv8n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766560" y="1828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 personnes, image bridée en 640x480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766560" y="25146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 blanche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766560" y="29260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faciale (YuNet + SFace), nom et rôle à l'écran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766560" y="36118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Alarme à 20 s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766560" y="40233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non reconnue 20 s → alerte + buzzer + LED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766560" y="47091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chaud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766560" y="51206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ou suppression d'un individu pris en compte en 2 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prédictive : alerter avant l'incident, sans seuil fixe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Fenêtres de 30 mesures → 9 indicateurs (pentes, variabilité, corrélation température/gaz) → Isolation Forest à seuil appris.</a:t>
            </a:r>
            <a:endParaRPr lang="en-US" sz="1700" dirty="0"/>
          </a:p>
        </p:txBody>
      </p:sp>
      <p:sp>
        <p:nvSpPr>
          <p:cNvPr id="4" name="Stat 50/50"/>
          <p:cNvSpPr/>
          <p:nvPr/>
        </p:nvSpPr>
        <p:spPr>
          <a:xfrm>
            <a:off x="548640" y="219456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50/50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520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détectés</a:t>
            </a:r>
            <a:endParaRPr lang="en-US" sz="1500" dirty="0"/>
          </a:p>
        </p:txBody>
      </p:sp>
      <p:sp>
        <p:nvSpPr>
          <p:cNvPr id="7" name="Stat 1/50"/>
          <p:cNvSpPr/>
          <p:nvPr/>
        </p:nvSpPr>
        <p:spPr>
          <a:xfrm>
            <a:off x="3364992" y="219456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56432" y="23774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1/50</a:t>
            </a:r>
            <a:endParaRPr lang="en-US" sz="5200" dirty="0"/>
          </a:p>
        </p:txBody>
      </p:sp>
      <p:sp>
        <p:nvSpPr>
          <p:cNvPr id="9" name="Text 7"/>
          <p:cNvSpPr txBox="1"/>
          <p:nvPr/>
        </p:nvSpPr>
        <p:spPr>
          <a:xfrm>
            <a:off x="3547872" y="3520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normale en fausse alerte</a:t>
            </a:r>
            <a:endParaRPr lang="en-US" sz="1500" dirty="0"/>
          </a:p>
        </p:txBody>
      </p:sp>
      <p:sp>
        <p:nvSpPr>
          <p:cNvPr id="10" name="Stat 436 s"/>
          <p:cNvSpPr/>
          <p:nvPr/>
        </p:nvSpPr>
        <p:spPr>
          <a:xfrm>
            <a:off x="6181344" y="219456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72784" y="23774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436 s</a:t>
            </a:r>
            <a:endParaRPr lang="en-US" sz="5200" dirty="0"/>
          </a:p>
        </p:txBody>
      </p:sp>
      <p:sp>
        <p:nvSpPr>
          <p:cNvPr id="12" name="Text 10"/>
          <p:cNvSpPr txBox="1"/>
          <p:nvPr/>
        </p:nvSpPr>
        <p:spPr>
          <a:xfrm>
            <a:off x="6364224" y="3520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d'avance moyenne sur le seuil critique</a:t>
            </a:r>
            <a:endParaRPr lang="en-US" sz="1500" dirty="0"/>
          </a:p>
        </p:txBody>
      </p:sp>
      <p:sp>
        <p:nvSpPr>
          <p:cNvPr id="13" name="Stat 25 °C"/>
          <p:cNvSpPr/>
          <p:nvPr/>
        </p:nvSpPr>
        <p:spPr>
          <a:xfrm>
            <a:off x="8997696" y="219456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89136" y="23774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°C</a:t>
            </a:r>
            <a:endParaRPr lang="en-US" sz="5200" dirty="0"/>
          </a:p>
        </p:txBody>
      </p:sp>
      <p:sp>
        <p:nvSpPr>
          <p:cNvPr id="15" name="Text 13"/>
          <p:cNvSpPr txBox="1"/>
          <p:nvPr/>
        </p:nvSpPr>
        <p:spPr>
          <a:xfrm>
            <a:off x="9180576" y="3520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sur le boîtier virtuel (seuil : 40 °C)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892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sujet interdit « if temp &gt; 40 » : l'IA détecte un comportement anormal (dérive lente et corrélée), pas une valeur. Un garde-fou à seuil reste dans le backend, en dernier recours, distinct de l'IA.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Supervision : dashboard opérateur et Grafana</a:t>
            </a:r>
            <a:endParaRPr lang="en-US" sz="3400" dirty="0"/>
          </a:p>
        </p:txBody>
      </p:sp>
      <p:sp>
        <p:nvSpPr>
          <p:cNvPr id="3" name="Capture dashboard cadre"/>
          <p:cNvSpPr/>
          <p:nvPr/>
        </p:nvSpPr>
        <p:spPr>
          <a:xfrm>
            <a:off x="502920" y="1325880"/>
            <a:ext cx="5577840" cy="3520440"/>
          </a:xfrm>
          <a:prstGeom prst="roundRect">
            <a:avLst>
              <a:gd name="adj" fmla="val 20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4" name="Capture dashboard" descr="C:\Users\modou\AppData\Local\Temp\claude\c--Users-modou-presence-ia\4fbdd09d-6d34-4ee3-b181-9e3396076b9c\scratchpad\shots\overview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86400" cy="3429000"/>
          </a:xfrm>
          <a:prstGeom prst="rect">
            <a:avLst/>
          </a:prstGeom>
        </p:spPr>
      </p:pic>
      <p:sp>
        <p:nvSpPr>
          <p:cNvPr id="5" name="Capture Grafana cadre"/>
          <p:cNvSpPr/>
          <p:nvPr/>
        </p:nvSpPr>
        <p:spPr>
          <a:xfrm>
            <a:off x="6263640" y="1325880"/>
            <a:ext cx="5577840" cy="3520440"/>
          </a:xfrm>
          <a:prstGeom prst="roundRect">
            <a:avLst>
              <a:gd name="adj" fmla="val 20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6" name="Capture Grafana" descr="C:\Users\modou\AppData\Local\Temp\claude\c--Users-modou-presence-ia\4fbdd09d-6d34-4ee3-b181-9e3396076b9c\scratchpad\shots\grafana_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486400" cy="3429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49834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React · temps réel (WebSocket), alarmes, individus, caméra, commandes buzzer/LED avec connexion opérateur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309360" y="49834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· courbes capteurs et alertes (PostgreSQL en lecture seule), MCO du serveur : CPU, RAM, disque, débit MQTT, logs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: chiffré, authentifié, cloisonné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7/7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718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contrôles de sécurité réussis sur la stack réelle (scripts/check_security.py)</a:t>
            </a:r>
            <a:endParaRPr lang="en-US" sz="1600" dirty="0"/>
          </a:p>
        </p:txBody>
      </p:sp>
      <p:sp>
        <p:nvSpPr>
          <p:cNvPr id="5" name="Icone MQTTS TLS 1.3 fond"/>
          <p:cNvSpPr/>
          <p:nvPr/>
        </p:nvSpPr>
        <p:spPr>
          <a:xfrm>
            <a:off x="4389120" y="1463040"/>
            <a:ext cx="777240" cy="777240"/>
          </a:xfrm>
          <a:prstGeom prst="ellipse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pic>
        <p:nvPicPr>
          <p:cNvPr id="6" name="Icone MQTTS TLS 1.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3430" y="1657350"/>
            <a:ext cx="388620" cy="3886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394960" y="1444752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MQTTS TLS 1.3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5394960" y="184708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en clair fermé, CA FORTEX, certificat vérifié par le boîtier</a:t>
            </a:r>
            <a:endParaRPr lang="en-US" sz="1400" dirty="0"/>
          </a:p>
        </p:txBody>
      </p:sp>
      <p:sp>
        <p:nvSpPr>
          <p:cNvPr id="9" name="Icone Comptes et ACL fond"/>
          <p:cNvSpPr/>
          <p:nvPr/>
        </p:nvSpPr>
        <p:spPr>
          <a:xfrm>
            <a:off x="4389120" y="2606040"/>
            <a:ext cx="777240" cy="777240"/>
          </a:xfrm>
          <a:prstGeom prst="ellipse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pic>
        <p:nvPicPr>
          <p:cNvPr id="10" name="Icone Comptes et ACL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3430" y="2800350"/>
            <a:ext cx="388620" cy="3886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94960" y="2587752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Comptes et ACL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5394960" y="299008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anonyme refusé ; le compte serveur ne peut pas injecter de fausses mesures</a:t>
            </a:r>
            <a:endParaRPr lang="en-US" sz="1400" dirty="0"/>
          </a:p>
        </p:txBody>
      </p:sp>
      <p:sp>
        <p:nvSpPr>
          <p:cNvPr id="13" name="Icone Jetons séparés fond"/>
          <p:cNvSpPr/>
          <p:nvPr/>
        </p:nvSpPr>
        <p:spPr>
          <a:xfrm>
            <a:off x="4389120" y="3749040"/>
            <a:ext cx="777240" cy="777240"/>
          </a:xfrm>
          <a:prstGeom prst="ellipse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pic>
        <p:nvPicPr>
          <p:cNvPr id="14" name="Icone Jetons séparé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3430" y="3943350"/>
            <a:ext cx="388620" cy="3886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394960" y="3730752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Jetons séparés</a:t>
            </a:r>
            <a:endParaRPr lang="en-US" sz="1900" dirty="0"/>
          </a:p>
        </p:txBody>
      </p:sp>
      <p:sp>
        <p:nvSpPr>
          <p:cNvPr id="16" name="Text 11"/>
          <p:cNvSpPr txBox="1"/>
          <p:nvPr/>
        </p:nvSpPr>
        <p:spPr>
          <a:xfrm>
            <a:off x="5394960" y="413308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(alertes) ≠ opérateur (actions) ; connexion opérateur au dashboard</a:t>
            </a:r>
            <a:endParaRPr lang="en-US" sz="1400" dirty="0"/>
          </a:p>
        </p:txBody>
      </p:sp>
      <p:sp>
        <p:nvSpPr>
          <p:cNvPr id="17" name="Icone Conteneurs durcis fond"/>
          <p:cNvSpPr/>
          <p:nvPr/>
        </p:nvSpPr>
        <p:spPr>
          <a:xfrm>
            <a:off x="4389120" y="4892040"/>
            <a:ext cx="777240" cy="777240"/>
          </a:xfrm>
          <a:prstGeom prst="ellipse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pic>
        <p:nvPicPr>
          <p:cNvPr id="18" name="Icone Conteneurs durci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3430" y="5086350"/>
            <a:ext cx="388620" cy="3886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394960" y="4873752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Conteneurs durcis</a:t>
            </a:r>
            <a:endParaRPr lang="en-US" sz="1900" dirty="0"/>
          </a:p>
        </p:txBody>
      </p:sp>
      <p:sp>
        <p:nvSpPr>
          <p:cNvPr id="20" name="Text 14"/>
          <p:cNvSpPr txBox="1"/>
          <p:nvPr/>
        </p:nvSpPr>
        <p:spPr>
          <a:xfrm>
            <a:off x="5394960" y="527608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non-root, lecture seule, privilèges retirés, base non exposée au réseau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 et fabrication : outils et choix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206240"/>
                <a:gridCol w="50292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Brique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Pourquoi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Boîtier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ESP8266 · C++ PlatformIO · boîtier virtuel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 prêt ; capteurs physiques indisponibles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MQTT Mosquitto en TLS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léger pour l'IoT, chiffré, droits par compte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Serveur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· PostgreSQL · Docker Compose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et WebSocket rapides, stack reproductible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YOLOv8n · OpenCV · scikit-learn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temps réel sur CPU, modèles expliqués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(Vite) · Grafana · Prometheus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opérateur d'un côté, exploitation de l'autre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Fabrication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 360 · impression 3D · laser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[état du boîtier physique à compléter]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Difficultés et limites, sans les cacher</a:t>
            </a:r>
            <a:endParaRPr lang="en-US" sz="3400" dirty="0"/>
          </a:p>
        </p:txBody>
      </p:sp>
      <p:sp>
        <p:nvSpPr>
          <p:cNvPr id="3" name="Difficulte Pas de capteurs physiques"/>
          <p:cNvSpPr/>
          <p:nvPr/>
        </p:nvSpPr>
        <p:spPr>
          <a:xfrm>
            <a:off x="548640" y="146304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" name="Icone Pas de capteurs physiques fond"/>
          <p:cNvSpPr/>
          <p:nvPr/>
        </p:nvSpPr>
        <p:spPr>
          <a:xfrm>
            <a:off x="822960" y="1783080"/>
            <a:ext cx="777240" cy="77724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pic>
        <p:nvPicPr>
          <p:cNvPr id="5" name="Icone Pas de capteurs physique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197739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7373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de capteurs physiques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224028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Boîtier virtuel au protocole identique ; modèle prédictif validé sur données simulées.</a:t>
            </a:r>
            <a:endParaRPr lang="en-US" sz="1500" dirty="0"/>
          </a:p>
        </p:txBody>
      </p:sp>
      <p:sp>
        <p:nvSpPr>
          <p:cNvPr id="8" name="Difficulte Latence vision"/>
          <p:cNvSpPr/>
          <p:nvPr/>
        </p:nvSpPr>
        <p:spPr>
          <a:xfrm>
            <a:off x="6172200" y="146304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9" name="Icone Latence vision fond"/>
          <p:cNvSpPr/>
          <p:nvPr/>
        </p:nvSpPr>
        <p:spPr>
          <a:xfrm>
            <a:off x="6446520" y="1783080"/>
            <a:ext cx="777240" cy="77724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pic>
        <p:nvPicPr>
          <p:cNvPr id="10" name="Icone Latence visi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830" y="1977390"/>
            <a:ext cx="388620" cy="3886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52360" y="17373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Latence vision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7452360" y="224028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100 ms avec YOLO seul (32 ms), dépassée avec visages + pointage sur un PC chargé.</a:t>
            </a:r>
            <a:endParaRPr lang="en-US" sz="1500" dirty="0"/>
          </a:p>
        </p:txBody>
      </p:sp>
      <p:sp>
        <p:nvSpPr>
          <p:cNvPr id="13" name="Difficulte Webcam hors Docker"/>
          <p:cNvSpPr/>
          <p:nvPr/>
        </p:nvSpPr>
        <p:spPr>
          <a:xfrm>
            <a:off x="548640" y="379476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Icone Webcam hors Docker fond"/>
          <p:cNvSpPr/>
          <p:nvPr/>
        </p:nvSpPr>
        <p:spPr>
          <a:xfrm>
            <a:off x="822960" y="4114800"/>
            <a:ext cx="777240" cy="77724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pic>
        <p:nvPicPr>
          <p:cNvPr id="15" name="Icone Webcam hors Docker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4309110"/>
            <a:ext cx="388620" cy="3886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828800" y="40690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Webcam hors Docker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1828800" y="457200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Desktop n'accède pas à l'USB : vision et backend tournent sur le PC.</a:t>
            </a:r>
            <a:endParaRPr lang="en-US" sz="1500" dirty="0"/>
          </a:p>
        </p:txBody>
      </p:sp>
      <p:sp>
        <p:nvSpPr>
          <p:cNvPr id="18" name="Difficulte Intégration à 3 dépôts"/>
          <p:cNvSpPr/>
          <p:nvPr/>
        </p:nvSpPr>
        <p:spPr>
          <a:xfrm>
            <a:off x="6172200" y="379476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9" name="Icone Intégration à 3 dépôts fond"/>
          <p:cNvSpPr/>
          <p:nvPr/>
        </p:nvSpPr>
        <p:spPr>
          <a:xfrm>
            <a:off x="6446520" y="4114800"/>
            <a:ext cx="777240" cy="77724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pic>
        <p:nvPicPr>
          <p:cNvPr id="20" name="Icone Intégration à 3 dépôt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830" y="4309110"/>
            <a:ext cx="388620" cy="3886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52360" y="40690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Intégration à 3 dépôts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7452360" y="457200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et topics différents : unifiés, puis regroupés en un dépôt (git subtree).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la semaine nous a apporté</a:t>
            </a:r>
            <a:endParaRPr lang="en-US" sz="3400" dirty="0"/>
          </a:p>
        </p:txBody>
      </p:sp>
      <p:sp>
        <p:nvSpPr>
          <p:cNvPr id="3" name="Apports groupe"/>
          <p:cNvSpPr/>
          <p:nvPr/>
        </p:nvSpPr>
        <p:spPr>
          <a:xfrm>
            <a:off x="548640" y="137160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le groupe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4 filières dans une seule chaîne qui fonctionne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mettre d'accord sur des contrats d'interface (MQTT, API)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Travailler avec Git à plusieurs : branches, revues, fusion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Penser sécurité dès la conception, pas à la fin</a:t>
            </a:r>
            <a:endParaRPr lang="en-US" sz="1600" dirty="0"/>
          </a:p>
        </p:txBody>
      </p:sp>
      <p:sp>
        <p:nvSpPr>
          <p:cNvPr id="6" name="Apports individuels"/>
          <p:cNvSpPr/>
          <p:nvPr/>
        </p:nvSpPr>
        <p:spPr>
          <a:xfrm>
            <a:off x="6217920" y="137160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554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Individuellement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10312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Mamadou (IA) 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embarquée temps réel et détection d'anomalies non supervisée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Kephren (DEV) 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[à compléter]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Ismahel (INFRA) 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[à compléter]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[Nom] (CYBER) 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[à compléter]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Améliorations possibles</a:t>
            </a:r>
            <a:endParaRPr lang="en-US" sz="3400" dirty="0"/>
          </a:p>
        </p:txBody>
      </p:sp>
      <p:sp>
        <p:nvSpPr>
          <p:cNvPr id="3" name="Icone Boîtier réel fond"/>
          <p:cNvSpPr/>
          <p:nvPr/>
        </p:nvSpPr>
        <p:spPr>
          <a:xfrm>
            <a:off x="548640" y="1417320"/>
            <a:ext cx="822960" cy="82296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4" name="Icone Boîtier rée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623060"/>
            <a:ext cx="41148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39903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Boîtier réel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600200" y="18288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flasher le firmware sur un ESP8266 câblé et réentraîner l'IA sur les vraies mesures</a:t>
            </a:r>
            <a:endParaRPr lang="en-US" sz="1500" dirty="0"/>
          </a:p>
        </p:txBody>
      </p:sp>
      <p:sp>
        <p:nvSpPr>
          <p:cNvPr id="7" name="Icone Vision plus rapide fond"/>
          <p:cNvSpPr/>
          <p:nvPr/>
        </p:nvSpPr>
        <p:spPr>
          <a:xfrm>
            <a:off x="548640" y="2606040"/>
            <a:ext cx="822960" cy="82296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8" name="Icone Vision plus rapid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2811780"/>
            <a:ext cx="411480" cy="411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5877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plus rapide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1600200" y="301752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faciale une image sur N, modèle quantifié ou GPU</a:t>
            </a:r>
            <a:endParaRPr lang="en-US" sz="1500" dirty="0"/>
          </a:p>
        </p:txBody>
      </p:sp>
      <p:sp>
        <p:nvSpPr>
          <p:cNvPr id="11" name="Icone HTTPS de bout en bout fond"/>
          <p:cNvSpPr/>
          <p:nvPr/>
        </p:nvSpPr>
        <p:spPr>
          <a:xfrm>
            <a:off x="548640" y="3794760"/>
            <a:ext cx="822960" cy="82296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12" name="Icone HTTPS de bout en bou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400050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00200" y="377647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de bout en bout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1600200" y="42062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 TLS devant l'API et le dashboard</a:t>
            </a:r>
            <a:endParaRPr lang="en-US" sz="1500" dirty="0"/>
          </a:p>
        </p:txBody>
      </p:sp>
      <p:sp>
        <p:nvSpPr>
          <p:cNvPr id="15" name="Icone Multi-sites fond"/>
          <p:cNvSpPr/>
          <p:nvPr/>
        </p:nvSpPr>
        <p:spPr>
          <a:xfrm>
            <a:off x="548640" y="4983480"/>
            <a:ext cx="822960" cy="82296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16" name="Icone Multi-site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518922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600200" y="496519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Multi-sites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1600200" y="53949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boîtiers et centrales sur une même supervision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383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Sentinel-X : la sécurité à la bordure</a:t>
            </a:r>
            <a:endParaRPr lang="en-US" sz="2200" dirty="0"/>
          </a:p>
        </p:txBody>
      </p:sp>
      <p:sp>
        <p:nvSpPr>
          <p:cNvPr id="4" name="Icone GitHub fond"/>
          <p:cNvSpPr/>
          <p:nvPr/>
        </p:nvSpPr>
        <p:spPr>
          <a:xfrm>
            <a:off x="9326880" y="2011680"/>
            <a:ext cx="2011680" cy="2011680"/>
          </a:xfrm>
          <a:prstGeom prst="ellipse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pic>
        <p:nvPicPr>
          <p:cNvPr id="5" name="Icone GitHub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51460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4754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source : github.com/Fortexworkshop/ia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du jury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RTEX Sentinel">
  <a:themeElements>
    <a:clrScheme name="FORTEX Sentinel">
      <a:dk1>
        <a:srgbClr val="0E1621"/>
      </a:dk1>
      <a:lt1>
        <a:srgbClr val="FFFFFF"/>
      </a:lt1>
      <a:dk2>
        <a:srgbClr val="1C2B3A"/>
      </a:dk2>
      <a:lt2>
        <a:srgbClr val="EEF2F6"/>
      </a:lt2>
      <a:accent1>
        <a:srgbClr val="FF8A3D"/>
      </a:accent1>
      <a:accent2>
        <a:srgbClr val="2EC4B6"/>
      </a:accent2>
      <a:accent3>
        <a:srgbClr val="E63946"/>
      </a:accent3>
      <a:accent4>
        <a:srgbClr val="F4C542"/>
      </a:accent4>
      <a:accent5>
        <a:srgbClr val="5B8DEF"/>
      </a:accent5>
      <a:accent6>
        <a:srgbClr val="8D99AE"/>
      </a:accent6>
      <a:hlink>
        <a:srgbClr val="5B8DEF"/>
      </a:hlink>
      <a:folHlink>
        <a:srgbClr val="8D99AE"/>
      </a:folHlink>
    </a:clrScheme>
    <a:fontScheme name="FORTEX Sentine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EPSI Workshop Bac+4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SENTINEL-X — Consortium FORTEX</dc:title>
  <dc:subject>PptxGenJS Presentation</dc:subject>
  <dc:creator>Consortium FORTEX</dc:creator>
  <cp:lastModifiedBy>Consortium FORTEX</cp:lastModifiedBy>
  <cp:revision>1</cp:revision>
  <dcterms:created xsi:type="dcterms:W3CDTF">2026-10-08T20:08:29Z</dcterms:created>
  <dcterms:modified xsi:type="dcterms:W3CDTF">2026-10-08T20:08:29Z</dcterms:modified>
</cp:coreProperties>
</file>