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79AAF7"/>
            </a:solidFill>
          </c:spPr>
          <c:cat>
            <c:strRef>
              <c:f>Sheet1!$A$2:$A$3</c:f>
              <c:strCache>
                <c:ptCount val="2"/>
                <c:pt idx="0">
                  <c:v>Avance moyenne</c:v>
                </c:pt>
                <c:pt idx="1">
                  <c:v>Avance minimum</c:v>
                </c:pt>
              </c:strCache>
            </c:strRef>
          </c:cat>
          <c:val>
            <c:numRef>
              <c:f>Sheet1!$B$2:$B$3</c:f>
              <c:numCache>
                <c:formatCode>General</c:formatCode>
                <c:ptCount val="2"/>
                <c:pt idx="0">
                  <c:v>436</c:v>
                </c:pt>
                <c:pt idx="1">
                  <c:v>388</c:v>
                </c:pt>
              </c:numCache>
            </c:numRef>
          </c:val>
        </c:ser>
        <c:gapWidth val="120"/>
        <c:axId val="-2068027336"/>
        <c:axId val="-2113994440"/>
      </c:barChart>
      <c:catAx>
        <c:axId val="-2068027336"/>
        <c:scaling>
          <c:orientation val="minMax"/>
        </c:scaling>
        <c:delete val="0"/>
        <c:axPos val="b"/>
        <c:majorTickMark val="out"/>
        <c:minorTickMark val="none"/>
        <c:tickLblPos val="nextTo"/>
        <c:spPr>
          <a:ln>
            <a:solidFill>
              <a:srgbClr val="2A323E"/>
            </a:solidFill>
          </a:ln>
        </c:spPr>
        <c:txPr>
          <a:bodyPr/>
          <a:lstStyle/>
          <a:p>
            <a:pPr>
              <a:defRPr sz="1200">
                <a:solidFill>
                  <a:srgbClr val="A4ADBA"/>
                </a:solidFill>
                <a:latin typeface="Segoe UI"/>
              </a:defRPr>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2A323E"/>
            </a:solidFill>
          </a:ln>
        </c:spPr>
        <c:txPr>
          <a:bodyPr/>
          <a:lstStyle/>
          <a:p>
            <a:pPr>
              <a:defRPr sz="1200">
                <a:solidFill>
                  <a:srgbClr val="A4ADBA"/>
                </a:solidFill>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OBJECTIFS DU SUPPORT (fixes avant construction) — principal : faire comprendre que la chaîne surveille et anticipe toute seule ; secondaires : montrer la conformité au sujet, rassurer sur la sécurité, assumer les limites. Public : jury EPSI, technique, qui connaît le sujet. Message à retenir : « anticiper, pas constater ». Fil rouge : « le prouver par la mesure ». SCRIPT — Bonjour, nous sommes le groupe 20, l'équipe FORTEX. Sentinel-X, c'est un avant-poste de surveillance autonome : un boîtier qui veille sur une micro-centrale isolée et son PC serveur local.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SCRIPT — Le contexte : des micro-centrales isolées, et personne sur place. Trois menaces, en même temps. Et pour la dérive, le mot important c'est « lentement » : elle s'installe bien avant d'atteindre une valeur critique. On ne veut donc pas constater l'incident, on veut l'anticiper. Ne pas lire la diapositive : les trois mots sont des repères, le détail est à l'oral.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SCRIPT — Notre réponse, en une ligne : le boîtier mesure, il publie en MQTTS chiffré, le backend centralise et rediffuse, le dashboard conduit. À côté, deux briques d'IA : la vision et la maintenance prédictive. Le point à retenir : tout circule chiffré, et le compte du serveur ne peut pas fabriquer de fausses mesures. Suivre les flèches avec la main, sans tourner le dos au public.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SCRIPT — La vision ne se contente pas de détecter une forme : elle reconnaît la personne, affiche son nom, et laisse passer le personnel autorisé. Une personne inconnue pendant vingt secondes, et l'alarme part — avec le buzzer et la LED sur le boîtier. Vingt secondes, c'est le temps de traverser le site : assez pour ne pas sonner sur un passage, trop court pour laisser quelqu'un s'installer.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SCRIPT — La maintenance prédictive, c'est le cœur technique, et c'est aussi une exigence du sujet : aucune condition statique du type « si la température dépasse 40 ». Nous découpons le flux en fenêtres de 30 mesures, nous en tirons neuf indicateurs — dont la pente et la corrélation température/gaz — et un Isolation Forest, dont le seuil est appris, décide. Résultat : cinquante incidents sur cinquante détectés, une seule fausse alerte sur cinquante, et 436 secondes d'avance. Sur le boîtier virtuel, l'alerte part vers 25 °C. Cliquer sur « seuil appris » ouvre le détail des neuf indicateurs — c'est la question la plus probable du jury.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SCRIPT — Trois chiffres, et ils sont reproductibles : la commande est écrite sous la diapositive. Cent quatorze tests passent hors matériel ; la vision tourne en 32 millisecondes, largement sous les 100 demandées ; et sept contrôles de sécurité sur sept réussissent sur la pile réelle. Ce n'est pas une capture d'écran, c'est ce que les scripts du dépôt affichent.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SCRIPT — Le poste de conduite : les courbes en temps réel, les alarmes à traiter avec leur origine, et les commandes buzzer et LED. Un point de conception : une seule connexion temps réel alimente toutes les pages, donc aucun écran ne peut afficher autre chose qu'un autre. Et au-delà de dix secondes sans mesure, l'interface l'annonce au lieu de figer une valeur.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SCRIPT — Deuxième écran, deuxième usage : Grafana. Il lit la même base, en lecture seule, et il sert à comprendre et à se souvenir — l'historique des capteurs et des alertes. Il porte aussi le maintien en condition opérationnelle : CPU, RAM, disque, débit MQTT, journaux. Si le serveur qui surveille tombe, plus personne ne surveille : c'est pour ça qu'on le surveille lui aussi.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SCRIPT — Quatre repères. Le transport est chiffré en TLS 1.3, et le port en clair est fermé. Les comptes sont séparés, et l'anonyme est refusé. Les jetons sont distincts : celui de l'IA ne permet pas d'agir, et le code opérateur, qui vit dans le navigateur, ne permet pas de fabriquer une fausse alerte. Enfin, les conteneurs sont durcis. Le score n'est pas une opinion : sept contrôles sur sept passent sur la pile réelle.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SCRIPT — Nous étions cinq, sur quatre filières : le développement, l'intelligence artificielle, l'infrastructure et la cybersécurité. Chacun possédait une brique, et la difficulté a été de faire tenir l'ensemble : c'est le contrat d'interface — les topics MQTT et les messages de l'API — qui nous a servi de frontière commune.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SCRIPT — Ce que nous n'avons pas fait, sans le cacher. Pas de capteurs physiques : le boîtier est virtuel, mais il parle exactement le même protocole. La vision tient l'exigence seule, et la dépasse dès qu'on ajoute les visages. La webcam ne rentre pas dans Docker sous Windows. Et nous partions de trois dépôts qu'il a fallu unifier.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SCRIPT — Chaque limite devient une piste. Le boîtier réel, d'abord : flasher le firmware et réentraîner l'IA sur les mesures de la salle. La vision ensuite : reconnaître une image sur deux, ou un modèle quantifié. Et le chiffrement de bout en bout, avec un reverse proxy devant l'API. Puis conclure : « anticiper, pas constater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SCRIPT — Merci. Le dépôt est public, les commandes de vérification sont dans le dossier. Nous prenons vos questions. Laisser le support affiché : il sert de repère pendant les échanges.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affiche a la demande (la fleche retourne au slide precedent). A dire : les neuf indicateurs sont le niveau, la variabilite, la pente et la correlation temperature/gaz. Le seuil n'est pas choisi : il est deduit des donnees normales. Et l'alerte attend dix fenetres anormales consecutives pour ne pas sonner sur une mesure isolee.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14400" y="800100"/>
            <a:ext cx="609600" cy="609600"/>
          </a:xfrm>
          <a:prstGeom prst="rect">
            <a:avLst/>
          </a:prstGeom>
        </p:spPr>
      </p:pic>
      <p:sp>
        <p:nvSpPr>
          <p:cNvPr id="3" name="TextBox 2"/>
          <p:cNvSpPr txBox="1"/>
          <p:nvPr/>
        </p:nvSpPr>
        <p:spPr>
          <a:xfrm>
            <a:off x="914400" y="1676400"/>
            <a:ext cx="7620000" cy="247650"/>
          </a:xfrm>
          <a:prstGeom prst="rect">
            <a:avLst/>
          </a:prstGeom>
          <a:noFill/>
        </p:spPr>
        <p:txBody>
          <a:bodyPr wrap="square" lIns="0" rIns="0" tIns="0" bIns="0" anchor="t">
            <a:spAutoFit/>
          </a:bodyPr>
          <a:lstStyle/>
          <a:p>
            <a:pPr algn="l">
              <a:lnSpc>
                <a:spcPct val="130000"/>
              </a:lnSpc>
            </a:pPr>
            <a:r>
              <a:rPr sz="1350" b="1" i="0" u="none" spc="240">
                <a:solidFill>
                  <a:srgbClr val="79AAF7"/>
                </a:solidFill>
                <a:latin typeface="Segoe UI"/>
              </a:rPr>
              <a:t>WORKSHOP NATIONAL EPSI · BAC+4 · OCTOBRE 2026</a:t>
            </a:r>
          </a:p>
        </p:txBody>
      </p:sp>
      <p:sp>
        <p:nvSpPr>
          <p:cNvPr id="4" name="TextBox 3"/>
          <p:cNvSpPr txBox="1"/>
          <p:nvPr/>
        </p:nvSpPr>
        <p:spPr>
          <a:xfrm>
            <a:off x="914400" y="2057400"/>
            <a:ext cx="10363200" cy="1619250"/>
          </a:xfrm>
          <a:prstGeom prst="rect">
            <a:avLst/>
          </a:prstGeom>
          <a:noFill/>
        </p:spPr>
        <p:txBody>
          <a:bodyPr wrap="square" lIns="0" rIns="0" tIns="0" bIns="0" anchor="t">
            <a:spAutoFit/>
          </a:bodyPr>
          <a:lstStyle/>
          <a:p>
            <a:pPr algn="l">
              <a:lnSpc>
                <a:spcPct val="100000"/>
              </a:lnSpc>
            </a:pPr>
            <a:r>
              <a:rPr sz="9600" b="1" i="0" u="none">
                <a:solidFill>
                  <a:srgbClr val="E6E9EE"/>
                </a:solidFill>
                <a:latin typeface="Segoe UI"/>
              </a:rPr>
              <a:t>SENTINEL-X</a:t>
            </a:r>
          </a:p>
        </p:txBody>
      </p:sp>
      <p:sp>
        <p:nvSpPr>
          <p:cNvPr id="5" name="TextBox 4"/>
          <p:cNvSpPr txBox="1"/>
          <p:nvPr/>
        </p:nvSpPr>
        <p:spPr>
          <a:xfrm>
            <a:off x="914400" y="3771900"/>
            <a:ext cx="8572500" cy="571500"/>
          </a:xfrm>
          <a:prstGeom prst="rect">
            <a:avLst/>
          </a:prstGeom>
          <a:noFill/>
        </p:spPr>
        <p:txBody>
          <a:bodyPr wrap="square" lIns="0" rIns="0" tIns="0" bIns="0" anchor="t">
            <a:spAutoFit/>
          </a:bodyPr>
          <a:lstStyle/>
          <a:p>
            <a:pPr algn="l">
              <a:lnSpc>
                <a:spcPct val="130000"/>
              </a:lnSpc>
            </a:pPr>
            <a:r>
              <a:rPr sz="3000" b="0" i="0" u="none">
                <a:solidFill>
                  <a:srgbClr val="A4ADBA"/>
                </a:solidFill>
                <a:latin typeface="Segoe UI"/>
              </a:rPr>
              <a:t>L'avant-poste industriel du futur</a:t>
            </a:r>
          </a:p>
        </p:txBody>
      </p:sp>
      <p:sp>
        <p:nvSpPr>
          <p:cNvPr id="6" name="Rectangle 5"/>
          <p:cNvSpPr/>
          <p:nvPr/>
        </p:nvSpPr>
        <p:spPr>
          <a:xfrm>
            <a:off x="914400" y="4610100"/>
            <a:ext cx="2286000" cy="7620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5029200"/>
            <a:ext cx="10363200" cy="857250"/>
          </a:xfrm>
          <a:prstGeom prst="rect">
            <a:avLst/>
          </a:prstGeom>
          <a:noFill/>
        </p:spPr>
        <p:txBody>
          <a:bodyPr wrap="square" lIns="0" rIns="0" tIns="0" bIns="0" anchor="t">
            <a:spAutoFit/>
          </a:bodyPr>
          <a:lstStyle/>
          <a:p>
            <a:pPr algn="l">
              <a:lnSpc>
                <a:spcPct val="150000"/>
              </a:lnSpc>
            </a:pPr>
            <a:r>
              <a:rPr sz="1650" b="0" i="0" u="none">
                <a:solidFill>
                  <a:srgbClr val="8A94A3"/>
                </a:solidFill>
                <a:latin typeface="Segoe UI"/>
              </a:rPr>
              <a:t>Consortium FORTEX — G20 · Option B, PC serveur local</a:t>
            </a:r>
          </a:p>
          <a:p>
            <a:pPr algn="l">
              <a:lnSpc>
                <a:spcPct val="150000"/>
              </a:lnSpc>
            </a:pPr>
            <a:r>
              <a:rPr sz="1650" b="0" i="0" u="none">
                <a:solidFill>
                  <a:srgbClr val="8A94A3"/>
                </a:solidFill>
                <a:latin typeface="Segoe UI"/>
              </a:rPr>
              <a:t>github.com/Fortexworkshop/ia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858500" y="628650"/>
            <a:ext cx="419100" cy="419100"/>
          </a:xfrm>
          <a:prstGeom prst="rect">
            <a:avLst/>
          </a:prstGeom>
        </p:spPr>
      </p:pic>
      <p:sp>
        <p:nvSpPr>
          <p:cNvPr id="3" name="TextBox 2"/>
          <p:cNvSpPr txBox="1"/>
          <p:nvPr/>
        </p:nvSpPr>
        <p:spPr>
          <a:xfrm>
            <a:off x="914400" y="685800"/>
            <a:ext cx="7429500" cy="247650"/>
          </a:xfrm>
          <a:prstGeom prst="rect">
            <a:avLst/>
          </a:prstGeom>
          <a:noFill/>
        </p:spPr>
        <p:txBody>
          <a:bodyPr wrap="square" lIns="0" rIns="0" tIns="0" bIns="0" anchor="t">
            <a:spAutoFit/>
          </a:bodyPr>
          <a:lstStyle/>
          <a:p>
            <a:pPr algn="l">
              <a:lnSpc>
                <a:spcPct val="130000"/>
              </a:lnSpc>
            </a:pPr>
            <a:r>
              <a:rPr sz="1280" b="1" i="0" u="none" spc="240">
                <a:solidFill>
                  <a:srgbClr val="79AAF7"/>
                </a:solidFill>
                <a:latin typeface="Segoe UI"/>
              </a:rPr>
              <a:t>LE PROBLÈME</a:t>
            </a:r>
          </a:p>
        </p:txBody>
      </p:sp>
      <p:sp>
        <p:nvSpPr>
          <p:cNvPr id="4" name="TextBox 3"/>
          <p:cNvSpPr txBox="1"/>
          <p:nvPr/>
        </p:nvSpPr>
        <p:spPr>
          <a:xfrm>
            <a:off x="914400" y="1009650"/>
            <a:ext cx="10363200" cy="1181100"/>
          </a:xfrm>
          <a:prstGeom prst="rect">
            <a:avLst/>
          </a:prstGeom>
          <a:noFill/>
        </p:spPr>
        <p:txBody>
          <a:bodyPr wrap="square" lIns="0" rIns="0" tIns="0" bIns="0" anchor="t">
            <a:spAutoFit/>
          </a:bodyPr>
          <a:lstStyle/>
          <a:p>
            <a:pPr algn="l">
              <a:lnSpc>
                <a:spcPct val="115000"/>
              </a:lnSpc>
            </a:pPr>
            <a:r>
              <a:rPr sz="3900" b="1" i="0" u="none">
                <a:solidFill>
                  <a:srgbClr val="E6E9EE"/>
                </a:solidFill>
                <a:latin typeface="Segoe UI"/>
              </a:rPr>
              <a:t>Aucun personnel sur place</a:t>
            </a:r>
          </a:p>
        </p:txBody>
      </p:sp>
      <p:sp>
        <p:nvSpPr>
          <p:cNvPr id="5" name="Rectangle 4"/>
          <p:cNvSpPr/>
          <p:nvPr/>
        </p:nvSpPr>
        <p:spPr>
          <a:xfrm>
            <a:off x="914400" y="2343150"/>
            <a:ext cx="914400" cy="5715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914400" y="2914650"/>
            <a:ext cx="381000" cy="57150"/>
          </a:xfrm>
          <a:prstGeom prst="roundRect">
            <a:avLst>
              <a:gd name="adj" fmla="val 50000"/>
            </a:avLst>
          </a:prstGeom>
          <a:solidFill>
            <a:srgbClr val="FF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3105150"/>
            <a:ext cx="3200400" cy="457200"/>
          </a:xfrm>
          <a:prstGeom prst="rect">
            <a:avLst/>
          </a:prstGeom>
          <a:noFill/>
        </p:spPr>
        <p:txBody>
          <a:bodyPr wrap="square" lIns="0" rIns="0" tIns="0" bIns="0" anchor="t">
            <a:spAutoFit/>
          </a:bodyPr>
          <a:lstStyle/>
          <a:p>
            <a:pPr algn="l">
              <a:lnSpc>
                <a:spcPct val="130000"/>
              </a:lnSpc>
            </a:pPr>
            <a:r>
              <a:rPr sz="2550" b="1" i="0" u="none">
                <a:solidFill>
                  <a:srgbClr val="FF6B66"/>
                </a:solidFill>
                <a:latin typeface="Segoe UI"/>
              </a:rPr>
              <a:t>Intrusion</a:t>
            </a:r>
          </a:p>
        </p:txBody>
      </p:sp>
      <p:sp>
        <p:nvSpPr>
          <p:cNvPr id="8" name="TextBox 7"/>
          <p:cNvSpPr txBox="1"/>
          <p:nvPr/>
        </p:nvSpPr>
        <p:spPr>
          <a:xfrm>
            <a:off x="914400" y="3619500"/>
            <a:ext cx="3200400" cy="952500"/>
          </a:xfrm>
          <a:prstGeom prst="rect">
            <a:avLst/>
          </a:prstGeom>
          <a:noFill/>
        </p:spPr>
        <p:txBody>
          <a:bodyPr wrap="square" lIns="0" rIns="0" tIns="0" bIns="0" anchor="t">
            <a:spAutoFit/>
          </a:bodyPr>
          <a:lstStyle/>
          <a:p>
            <a:pPr algn="l">
              <a:lnSpc>
                <a:spcPct val="140000"/>
              </a:lnSpc>
            </a:pPr>
            <a:r>
              <a:rPr sz="1650" b="0" i="0" u="none">
                <a:solidFill>
                  <a:srgbClr val="A4ADBA"/>
                </a:solidFill>
                <a:latin typeface="Segoe UI"/>
              </a:rPr>
              <a:t>Espionnage industriel : quelqu'un s'approche sans être reconnu.</a:t>
            </a:r>
          </a:p>
        </p:txBody>
      </p:sp>
      <p:sp>
        <p:nvSpPr>
          <p:cNvPr id="9" name="Rounded Rectangle 8"/>
          <p:cNvSpPr/>
          <p:nvPr/>
        </p:nvSpPr>
        <p:spPr>
          <a:xfrm>
            <a:off x="4495800" y="2914650"/>
            <a:ext cx="381000" cy="57150"/>
          </a:xfrm>
          <a:prstGeom prst="roundRect">
            <a:avLst>
              <a:gd name="adj" fmla="val 50000"/>
            </a:avLst>
          </a:prstGeom>
          <a:solidFill>
            <a:srgbClr val="F2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95800" y="3105150"/>
            <a:ext cx="3200400" cy="457200"/>
          </a:xfrm>
          <a:prstGeom prst="rect">
            <a:avLst/>
          </a:prstGeom>
          <a:noFill/>
        </p:spPr>
        <p:txBody>
          <a:bodyPr wrap="square" lIns="0" rIns="0" tIns="0" bIns="0" anchor="t">
            <a:spAutoFit/>
          </a:bodyPr>
          <a:lstStyle/>
          <a:p>
            <a:pPr algn="l">
              <a:lnSpc>
                <a:spcPct val="130000"/>
              </a:lnSpc>
            </a:pPr>
            <a:r>
              <a:rPr sz="2550" b="1" i="0" u="none">
                <a:solidFill>
                  <a:srgbClr val="F2B440"/>
                </a:solidFill>
                <a:latin typeface="Segoe UI"/>
              </a:rPr>
              <a:t>Dérive</a:t>
            </a:r>
          </a:p>
        </p:txBody>
      </p:sp>
      <p:sp>
        <p:nvSpPr>
          <p:cNvPr id="11" name="TextBox 10"/>
          <p:cNvSpPr txBox="1"/>
          <p:nvPr/>
        </p:nvSpPr>
        <p:spPr>
          <a:xfrm>
            <a:off x="4495800" y="3619500"/>
            <a:ext cx="3200400" cy="952500"/>
          </a:xfrm>
          <a:prstGeom prst="rect">
            <a:avLst/>
          </a:prstGeom>
          <a:noFill/>
        </p:spPr>
        <p:txBody>
          <a:bodyPr wrap="square" lIns="0" rIns="0" tIns="0" bIns="0" anchor="t">
            <a:spAutoFit/>
          </a:bodyPr>
          <a:lstStyle/>
          <a:p>
            <a:pPr algn="l">
              <a:lnSpc>
                <a:spcPct val="140000"/>
              </a:lnSpc>
            </a:pPr>
            <a:r>
              <a:rPr sz="1650" b="0" i="0" u="none">
                <a:solidFill>
                  <a:srgbClr val="A4ADBA"/>
                </a:solidFill>
                <a:latin typeface="Segoe UI"/>
              </a:rPr>
              <a:t>Surchauffe ou fuite de gaz : une évolution lente, largement avant le seuil.</a:t>
            </a:r>
          </a:p>
        </p:txBody>
      </p:sp>
      <p:sp>
        <p:nvSpPr>
          <p:cNvPr id="12" name="Rounded Rectangle 11"/>
          <p:cNvSpPr/>
          <p:nvPr/>
        </p:nvSpPr>
        <p:spPr>
          <a:xfrm>
            <a:off x="8077200" y="2914650"/>
            <a:ext cx="381000" cy="57150"/>
          </a:xfrm>
          <a:prstGeom prst="roundRect">
            <a:avLst>
              <a:gd name="adj" fmla="val 50000"/>
            </a:avLst>
          </a:prstGeom>
          <a:solidFill>
            <a:srgbClr val="C3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77200" y="3105150"/>
            <a:ext cx="3200400" cy="457200"/>
          </a:xfrm>
          <a:prstGeom prst="rect">
            <a:avLst/>
          </a:prstGeom>
          <a:noFill/>
        </p:spPr>
        <p:txBody>
          <a:bodyPr wrap="square" lIns="0" rIns="0" tIns="0" bIns="0" anchor="t">
            <a:spAutoFit/>
          </a:bodyPr>
          <a:lstStyle/>
          <a:p>
            <a:pPr algn="l">
              <a:lnSpc>
                <a:spcPct val="130000"/>
              </a:lnSpc>
            </a:pPr>
            <a:r>
              <a:rPr sz="2550" b="1" i="0" u="none">
                <a:solidFill>
                  <a:srgbClr val="C3A6FF"/>
                </a:solidFill>
                <a:latin typeface="Segoe UI"/>
              </a:rPr>
              <a:t>Cyberattaque</a:t>
            </a:r>
          </a:p>
        </p:txBody>
      </p:sp>
      <p:sp>
        <p:nvSpPr>
          <p:cNvPr id="14" name="TextBox 13"/>
          <p:cNvSpPr txBox="1"/>
          <p:nvPr/>
        </p:nvSpPr>
        <p:spPr>
          <a:xfrm>
            <a:off x="8077200" y="3619500"/>
            <a:ext cx="3200400" cy="952500"/>
          </a:xfrm>
          <a:prstGeom prst="rect">
            <a:avLst/>
          </a:prstGeom>
          <a:noFill/>
        </p:spPr>
        <p:txBody>
          <a:bodyPr wrap="square" lIns="0" rIns="0" tIns="0" bIns="0" anchor="t">
            <a:spAutoFit/>
          </a:bodyPr>
          <a:lstStyle/>
          <a:p>
            <a:pPr algn="l">
              <a:lnSpc>
                <a:spcPct val="140000"/>
              </a:lnSpc>
            </a:pPr>
            <a:r>
              <a:rPr sz="1650" b="0" i="0" u="none">
                <a:solidFill>
                  <a:srgbClr val="A4ADBA"/>
                </a:solidFill>
                <a:latin typeface="Segoe UI"/>
              </a:rPr>
              <a:t>Déstabilisation, interception, injection de fausses mesures.</a:t>
            </a:r>
          </a:p>
        </p:txBody>
      </p:sp>
      <p:sp>
        <p:nvSpPr>
          <p:cNvPr id="15" name="TextBox 14"/>
          <p:cNvSpPr txBox="1"/>
          <p:nvPr/>
        </p:nvSpPr>
        <p:spPr>
          <a:xfrm>
            <a:off x="914400" y="5391150"/>
            <a:ext cx="10363200" cy="666750"/>
          </a:xfrm>
          <a:prstGeom prst="rect">
            <a:avLst/>
          </a:prstGeom>
          <a:noFill/>
        </p:spPr>
        <p:txBody>
          <a:bodyPr wrap="square" lIns="0" rIns="0" tIns="0" bIns="0" anchor="t">
            <a:spAutoFit/>
          </a:bodyPr>
          <a:lstStyle/>
          <a:p>
            <a:pPr algn="l">
              <a:lnSpc>
                <a:spcPct val="130000"/>
              </a:lnSpc>
            </a:pPr>
            <a:r>
              <a:rPr sz="2250" b="1" i="0" u="none">
                <a:solidFill>
                  <a:srgbClr val="E6E9EE"/>
                </a:solidFill>
                <a:latin typeface="Segoe UI"/>
              </a:rPr>
              <a:t>Surveiller sans personne : la chaîne doit décider seule, et le prouver.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858500" y="628650"/>
            <a:ext cx="419100" cy="419100"/>
          </a:xfrm>
          <a:prstGeom prst="rect">
            <a:avLst/>
          </a:prstGeom>
        </p:spPr>
      </p:pic>
      <p:sp>
        <p:nvSpPr>
          <p:cNvPr id="3" name="TextBox 2"/>
          <p:cNvSpPr txBox="1"/>
          <p:nvPr/>
        </p:nvSpPr>
        <p:spPr>
          <a:xfrm>
            <a:off x="914400" y="685800"/>
            <a:ext cx="7429500" cy="247650"/>
          </a:xfrm>
          <a:prstGeom prst="rect">
            <a:avLst/>
          </a:prstGeom>
          <a:noFill/>
        </p:spPr>
        <p:txBody>
          <a:bodyPr wrap="square" lIns="0" rIns="0" tIns="0" bIns="0" anchor="t">
            <a:spAutoFit/>
          </a:bodyPr>
          <a:lstStyle/>
          <a:p>
            <a:pPr algn="l">
              <a:lnSpc>
                <a:spcPct val="130000"/>
              </a:lnSpc>
            </a:pPr>
            <a:r>
              <a:rPr sz="1280" b="1" i="0" u="none" spc="240">
                <a:solidFill>
                  <a:srgbClr val="79AAF7"/>
                </a:solidFill>
                <a:latin typeface="Segoe UI"/>
              </a:rPr>
              <a:t>LA RÉPONSE</a:t>
            </a:r>
          </a:p>
        </p:txBody>
      </p:sp>
      <p:sp>
        <p:nvSpPr>
          <p:cNvPr id="4" name="TextBox 3"/>
          <p:cNvSpPr txBox="1"/>
          <p:nvPr/>
        </p:nvSpPr>
        <p:spPr>
          <a:xfrm>
            <a:off x="914400" y="1009650"/>
            <a:ext cx="10363200" cy="1181100"/>
          </a:xfrm>
          <a:prstGeom prst="rect">
            <a:avLst/>
          </a:prstGeom>
          <a:noFill/>
        </p:spPr>
        <p:txBody>
          <a:bodyPr wrap="square" lIns="0" rIns="0" tIns="0" bIns="0" anchor="t">
            <a:spAutoFit/>
          </a:bodyPr>
          <a:lstStyle/>
          <a:p>
            <a:pPr algn="l">
              <a:lnSpc>
                <a:spcPct val="115000"/>
              </a:lnSpc>
            </a:pPr>
            <a:r>
              <a:rPr sz="3900" b="1" i="0" u="none">
                <a:solidFill>
                  <a:srgbClr val="E6E9EE"/>
                </a:solidFill>
                <a:latin typeface="Segoe UI"/>
              </a:rPr>
              <a:t>De la mesure à l'alarme, chiffré</a:t>
            </a:r>
          </a:p>
        </p:txBody>
      </p:sp>
      <p:sp>
        <p:nvSpPr>
          <p:cNvPr id="5" name="Rectangle 4"/>
          <p:cNvSpPr/>
          <p:nvPr/>
        </p:nvSpPr>
        <p:spPr>
          <a:xfrm>
            <a:off x="914400" y="2343150"/>
            <a:ext cx="914400" cy="5715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914400" y="2686050"/>
            <a:ext cx="2247900" cy="1143000"/>
          </a:xfrm>
          <a:prstGeom prst="roundRect">
            <a:avLst>
              <a:gd name="adj" fmla="val 10000"/>
            </a:avLst>
          </a:prstGeom>
          <a:solidFill>
            <a:srgbClr val="151B23"/>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04900" y="2914650"/>
            <a:ext cx="1866900" cy="381000"/>
          </a:xfrm>
          <a:prstGeom prst="rect">
            <a:avLst/>
          </a:prstGeom>
          <a:noFill/>
        </p:spPr>
        <p:txBody>
          <a:bodyPr wrap="square" lIns="0" rIns="0" tIns="0" bIns="0" anchor="t">
            <a:spAutoFit/>
          </a:bodyPr>
          <a:lstStyle/>
          <a:p>
            <a:pPr algn="l">
              <a:lnSpc>
                <a:spcPct val="130000"/>
              </a:lnSpc>
            </a:pPr>
            <a:r>
              <a:rPr sz="1950" b="1" i="0" u="none">
                <a:solidFill>
                  <a:srgbClr val="E6E9EE"/>
                </a:solidFill>
                <a:latin typeface="Segoe UI"/>
              </a:rPr>
              <a:t>Boîtier</a:t>
            </a:r>
          </a:p>
        </p:txBody>
      </p:sp>
      <p:sp>
        <p:nvSpPr>
          <p:cNvPr id="8" name="TextBox 7"/>
          <p:cNvSpPr txBox="1"/>
          <p:nvPr/>
        </p:nvSpPr>
        <p:spPr>
          <a:xfrm>
            <a:off x="1104900" y="3295650"/>
            <a:ext cx="1866900" cy="723900"/>
          </a:xfrm>
          <a:prstGeom prst="rect">
            <a:avLst/>
          </a:prstGeom>
          <a:noFill/>
        </p:spPr>
        <p:txBody>
          <a:bodyPr wrap="square" lIns="0" rIns="0" tIns="0" bIns="0" anchor="t">
            <a:spAutoFit/>
          </a:bodyPr>
          <a:lstStyle/>
          <a:p>
            <a:pPr algn="l">
              <a:lnSpc>
                <a:spcPct val="135000"/>
              </a:lnSpc>
            </a:pPr>
            <a:r>
              <a:rPr sz="1280" b="0" i="0" u="none">
                <a:solidFill>
                  <a:srgbClr val="A4ADBA"/>
                </a:solidFill>
                <a:latin typeface="Segoe UI"/>
              </a:rPr>
              <a:t>ESP8266 · DHT22 · MQ-2 · PIR</a:t>
            </a:r>
          </a:p>
        </p:txBody>
      </p:sp>
      <p:sp>
        <p:nvSpPr>
          <p:cNvPr id="9" name="Rounded Rectangle 8"/>
          <p:cNvSpPr/>
          <p:nvPr/>
        </p:nvSpPr>
        <p:spPr>
          <a:xfrm>
            <a:off x="3619500" y="2686050"/>
            <a:ext cx="2247900" cy="1143000"/>
          </a:xfrm>
          <a:prstGeom prst="roundRect">
            <a:avLst>
              <a:gd name="adj" fmla="val 10000"/>
            </a:avLst>
          </a:prstGeom>
          <a:solidFill>
            <a:srgbClr val="151B23"/>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3810000" y="2857500"/>
            <a:ext cx="228600" cy="3810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810000" y="3009900"/>
            <a:ext cx="1866900" cy="381000"/>
          </a:xfrm>
          <a:prstGeom prst="rect">
            <a:avLst/>
          </a:prstGeom>
          <a:noFill/>
        </p:spPr>
        <p:txBody>
          <a:bodyPr wrap="square" lIns="0" rIns="0" tIns="0" bIns="0" anchor="t">
            <a:spAutoFit/>
          </a:bodyPr>
          <a:lstStyle/>
          <a:p>
            <a:pPr algn="l">
              <a:lnSpc>
                <a:spcPct val="130000"/>
              </a:lnSpc>
            </a:pPr>
            <a:r>
              <a:rPr sz="1950" b="1" i="0" u="none">
                <a:solidFill>
                  <a:srgbClr val="E6E9EE"/>
                </a:solidFill>
                <a:latin typeface="Segoe UI"/>
              </a:rPr>
              <a:t>MQTTS</a:t>
            </a:r>
          </a:p>
        </p:txBody>
      </p:sp>
      <p:sp>
        <p:nvSpPr>
          <p:cNvPr id="12" name="TextBox 11"/>
          <p:cNvSpPr txBox="1"/>
          <p:nvPr/>
        </p:nvSpPr>
        <p:spPr>
          <a:xfrm>
            <a:off x="3810000" y="3390900"/>
            <a:ext cx="1866900" cy="628650"/>
          </a:xfrm>
          <a:prstGeom prst="rect">
            <a:avLst/>
          </a:prstGeom>
          <a:noFill/>
        </p:spPr>
        <p:txBody>
          <a:bodyPr wrap="square" lIns="0" rIns="0" tIns="0" bIns="0" anchor="t">
            <a:spAutoFit/>
          </a:bodyPr>
          <a:lstStyle/>
          <a:p>
            <a:pPr algn="l">
              <a:lnSpc>
                <a:spcPct val="135000"/>
              </a:lnSpc>
            </a:pPr>
            <a:r>
              <a:rPr sz="1280" b="0" i="0" u="none">
                <a:solidFill>
                  <a:srgbClr val="A4ADBA"/>
                </a:solidFill>
                <a:latin typeface="Segoe UI"/>
              </a:rPr>
              <a:t>TLS 1.3 · comptes · ACL</a:t>
            </a:r>
          </a:p>
        </p:txBody>
      </p:sp>
      <p:sp>
        <p:nvSpPr>
          <p:cNvPr id="13" name="Rounded Rectangle 12"/>
          <p:cNvSpPr/>
          <p:nvPr/>
        </p:nvSpPr>
        <p:spPr>
          <a:xfrm>
            <a:off x="6324600" y="2686050"/>
            <a:ext cx="2247900" cy="1143000"/>
          </a:xfrm>
          <a:prstGeom prst="roundRect">
            <a:avLst>
              <a:gd name="adj" fmla="val 10000"/>
            </a:avLst>
          </a:prstGeom>
          <a:solidFill>
            <a:srgbClr val="151B23"/>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515100" y="2914650"/>
            <a:ext cx="1866900" cy="381000"/>
          </a:xfrm>
          <a:prstGeom prst="rect">
            <a:avLst/>
          </a:prstGeom>
          <a:noFill/>
        </p:spPr>
        <p:txBody>
          <a:bodyPr wrap="square" lIns="0" rIns="0" tIns="0" bIns="0" anchor="t">
            <a:spAutoFit/>
          </a:bodyPr>
          <a:lstStyle/>
          <a:p>
            <a:pPr algn="l">
              <a:lnSpc>
                <a:spcPct val="130000"/>
              </a:lnSpc>
            </a:pPr>
            <a:r>
              <a:rPr sz="1950" b="1" i="0" u="none">
                <a:solidFill>
                  <a:srgbClr val="E6E9EE"/>
                </a:solidFill>
                <a:latin typeface="Segoe UI"/>
              </a:rPr>
              <a:t>Backend</a:t>
            </a:r>
          </a:p>
        </p:txBody>
      </p:sp>
      <p:sp>
        <p:nvSpPr>
          <p:cNvPr id="15" name="TextBox 14"/>
          <p:cNvSpPr txBox="1"/>
          <p:nvPr/>
        </p:nvSpPr>
        <p:spPr>
          <a:xfrm>
            <a:off x="6515100" y="3295650"/>
            <a:ext cx="1866900" cy="723900"/>
          </a:xfrm>
          <a:prstGeom prst="rect">
            <a:avLst/>
          </a:prstGeom>
          <a:noFill/>
        </p:spPr>
        <p:txBody>
          <a:bodyPr wrap="square" lIns="0" rIns="0" tIns="0" bIns="0" anchor="t">
            <a:spAutoFit/>
          </a:bodyPr>
          <a:lstStyle/>
          <a:p>
            <a:pPr algn="l">
              <a:lnSpc>
                <a:spcPct val="135000"/>
              </a:lnSpc>
            </a:pPr>
            <a:r>
              <a:rPr sz="1280" b="0" i="0" u="none">
                <a:solidFill>
                  <a:srgbClr val="A4ADBA"/>
                </a:solidFill>
                <a:latin typeface="Segoe UI"/>
              </a:rPr>
              <a:t>FastAPI · REST · WebSocket</a:t>
            </a:r>
          </a:p>
        </p:txBody>
      </p:sp>
      <p:sp>
        <p:nvSpPr>
          <p:cNvPr id="16" name="Rounded Rectangle 15"/>
          <p:cNvSpPr/>
          <p:nvPr/>
        </p:nvSpPr>
        <p:spPr>
          <a:xfrm>
            <a:off x="9029700" y="2686050"/>
            <a:ext cx="2247900" cy="1143000"/>
          </a:xfrm>
          <a:prstGeom prst="roundRect">
            <a:avLst>
              <a:gd name="adj" fmla="val 10000"/>
            </a:avLst>
          </a:prstGeom>
          <a:solidFill>
            <a:srgbClr val="151B23"/>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20200" y="2914650"/>
            <a:ext cx="1866900" cy="381000"/>
          </a:xfrm>
          <a:prstGeom prst="rect">
            <a:avLst/>
          </a:prstGeom>
          <a:noFill/>
        </p:spPr>
        <p:txBody>
          <a:bodyPr wrap="square" lIns="0" rIns="0" tIns="0" bIns="0" anchor="t">
            <a:spAutoFit/>
          </a:bodyPr>
          <a:lstStyle/>
          <a:p>
            <a:pPr algn="l">
              <a:lnSpc>
                <a:spcPct val="130000"/>
              </a:lnSpc>
            </a:pPr>
            <a:r>
              <a:rPr sz="1950" b="1" i="0" u="none">
                <a:solidFill>
                  <a:srgbClr val="E6E9EE"/>
                </a:solidFill>
                <a:latin typeface="Segoe UI"/>
              </a:rPr>
              <a:t>Dashboard</a:t>
            </a:r>
          </a:p>
        </p:txBody>
      </p:sp>
      <p:sp>
        <p:nvSpPr>
          <p:cNvPr id="18" name="TextBox 17"/>
          <p:cNvSpPr txBox="1"/>
          <p:nvPr/>
        </p:nvSpPr>
        <p:spPr>
          <a:xfrm>
            <a:off x="9220200" y="3295650"/>
            <a:ext cx="1866900" cy="723900"/>
          </a:xfrm>
          <a:prstGeom prst="rect">
            <a:avLst/>
          </a:prstGeom>
          <a:noFill/>
        </p:spPr>
        <p:txBody>
          <a:bodyPr wrap="square" lIns="0" rIns="0" tIns="0" bIns="0" anchor="t">
            <a:spAutoFit/>
          </a:bodyPr>
          <a:lstStyle/>
          <a:p>
            <a:pPr algn="l">
              <a:lnSpc>
                <a:spcPct val="135000"/>
              </a:lnSpc>
            </a:pPr>
            <a:r>
              <a:rPr sz="1280" b="0" i="0" u="none">
                <a:solidFill>
                  <a:srgbClr val="A4ADBA"/>
                </a:solidFill>
                <a:latin typeface="Segoe UI"/>
              </a:rPr>
              <a:t>React · temps réel</a:t>
            </a:r>
          </a:p>
        </p:txBody>
      </p:sp>
      <p:cxnSp>
        <p:nvCxnSpPr>
          <p:cNvPr id="19" name="Connector 18"/>
          <p:cNvCxnSpPr/>
          <p:nvPr/>
        </p:nvCxnSpPr>
        <p:spPr>
          <a:xfrm>
            <a:off x="3200400" y="3238500"/>
            <a:ext cx="400050" cy="28575"/>
          </a:xfrm>
          <a:prstGeom prst="line">
            <a:avLst/>
          </a:prstGeom>
          <a:ln w="28575">
            <a:solidFill>
              <a:srgbClr val="79AAF7"/>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905500" y="3238500"/>
            <a:ext cx="400050" cy="28575"/>
          </a:xfrm>
          <a:prstGeom prst="line">
            <a:avLst/>
          </a:prstGeom>
          <a:ln w="28575">
            <a:solidFill>
              <a:srgbClr val="79AAF7"/>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10600" y="3238500"/>
            <a:ext cx="400050" cy="28575"/>
          </a:xfrm>
          <a:prstGeom prst="line">
            <a:avLst/>
          </a:prstGeom>
          <a:ln w="28575">
            <a:solidFill>
              <a:srgbClr val="79AAF7"/>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14400" y="4152900"/>
            <a:ext cx="10363200" cy="1447800"/>
          </a:xfrm>
          <a:prstGeom prst="roundRect">
            <a:avLst>
              <a:gd name="adj" fmla="val 7894"/>
            </a:avLst>
          </a:prstGeom>
          <a:solidFill>
            <a:srgbClr val="151B23"/>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04900" y="4267200"/>
            <a:ext cx="6667500" cy="285750"/>
          </a:xfrm>
          <a:prstGeom prst="rect">
            <a:avLst/>
          </a:prstGeom>
          <a:noFill/>
        </p:spPr>
        <p:txBody>
          <a:bodyPr wrap="square" lIns="0" rIns="0" tIns="0" bIns="0" anchor="t">
            <a:spAutoFit/>
          </a:bodyPr>
          <a:lstStyle/>
          <a:p>
            <a:pPr algn="l">
              <a:lnSpc>
                <a:spcPct val="130000"/>
              </a:lnSpc>
            </a:pPr>
            <a:r>
              <a:rPr sz="1500" b="0" i="0" u="none">
                <a:solidFill>
                  <a:srgbClr val="A4ADBA"/>
                </a:solidFill>
                <a:latin typeface="Segoe UI"/>
              </a:rPr>
              <a:t>Alimenté par le backend</a:t>
            </a:r>
          </a:p>
        </p:txBody>
      </p:sp>
      <p:sp>
        <p:nvSpPr>
          <p:cNvPr id="24" name="Rounded Rectangle 23"/>
          <p:cNvSpPr/>
          <p:nvPr/>
        </p:nvSpPr>
        <p:spPr>
          <a:xfrm>
            <a:off x="1066800" y="4591050"/>
            <a:ext cx="3219450" cy="895350"/>
          </a:xfrm>
          <a:prstGeom prst="roundRect">
            <a:avLst>
              <a:gd name="adj" fmla="val 12765"/>
            </a:avLst>
          </a:prstGeom>
          <a:solidFill>
            <a:srgbClr val="1B222C"/>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57300" y="4819650"/>
            <a:ext cx="2838450" cy="381000"/>
          </a:xfrm>
          <a:prstGeom prst="rect">
            <a:avLst/>
          </a:prstGeom>
          <a:noFill/>
        </p:spPr>
        <p:txBody>
          <a:bodyPr wrap="square" lIns="0" rIns="0" tIns="0" bIns="0" anchor="t">
            <a:spAutoFit/>
          </a:bodyPr>
          <a:lstStyle/>
          <a:p>
            <a:pPr algn="l">
              <a:lnSpc>
                <a:spcPct val="130000"/>
              </a:lnSpc>
            </a:pPr>
            <a:r>
              <a:rPr sz="1800" b="1" i="0" u="none">
                <a:solidFill>
                  <a:srgbClr val="E6E9EE"/>
                </a:solidFill>
                <a:latin typeface="Segoe UI"/>
              </a:rPr>
              <a:t>PostgreSQL</a:t>
            </a:r>
          </a:p>
        </p:txBody>
      </p:sp>
      <p:sp>
        <p:nvSpPr>
          <p:cNvPr id="26" name="TextBox 25"/>
          <p:cNvSpPr txBox="1"/>
          <p:nvPr/>
        </p:nvSpPr>
        <p:spPr>
          <a:xfrm>
            <a:off x="1257300" y="5200650"/>
            <a:ext cx="2838450" cy="476250"/>
          </a:xfrm>
          <a:prstGeom prst="rect">
            <a:avLst/>
          </a:prstGeom>
          <a:noFill/>
        </p:spPr>
        <p:txBody>
          <a:bodyPr wrap="square" lIns="0" rIns="0" tIns="0" bIns="0" anchor="t">
            <a:spAutoFit/>
          </a:bodyPr>
          <a:lstStyle/>
          <a:p>
            <a:pPr algn="l">
              <a:lnSpc>
                <a:spcPct val="135000"/>
              </a:lnSpc>
            </a:pPr>
            <a:r>
              <a:rPr sz="1280" b="0" i="0" u="none">
                <a:solidFill>
                  <a:srgbClr val="A4ADBA"/>
                </a:solidFill>
                <a:latin typeface="Segoe UI"/>
              </a:rPr>
              <a:t>Historique des mesures</a:t>
            </a:r>
          </a:p>
        </p:txBody>
      </p:sp>
      <p:sp>
        <p:nvSpPr>
          <p:cNvPr id="27" name="Rounded Rectangle 26"/>
          <p:cNvSpPr/>
          <p:nvPr/>
        </p:nvSpPr>
        <p:spPr>
          <a:xfrm>
            <a:off x="4476750" y="4591050"/>
            <a:ext cx="3219450" cy="895350"/>
          </a:xfrm>
          <a:prstGeom prst="roundRect">
            <a:avLst>
              <a:gd name="adj" fmla="val 12765"/>
            </a:avLst>
          </a:prstGeom>
          <a:solidFill>
            <a:srgbClr val="1B222C"/>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667250" y="4819650"/>
            <a:ext cx="2838450" cy="381000"/>
          </a:xfrm>
          <a:prstGeom prst="rect">
            <a:avLst/>
          </a:prstGeom>
          <a:noFill/>
        </p:spPr>
        <p:txBody>
          <a:bodyPr wrap="square" lIns="0" rIns="0" tIns="0" bIns="0" anchor="t">
            <a:spAutoFit/>
          </a:bodyPr>
          <a:lstStyle/>
          <a:p>
            <a:pPr algn="l">
              <a:lnSpc>
                <a:spcPct val="130000"/>
              </a:lnSpc>
            </a:pPr>
            <a:r>
              <a:rPr sz="1800" b="1" i="0" u="none">
                <a:solidFill>
                  <a:srgbClr val="E6E9EE"/>
                </a:solidFill>
                <a:latin typeface="Segoe UI"/>
              </a:rPr>
              <a:t>IA vision</a:t>
            </a:r>
          </a:p>
        </p:txBody>
      </p:sp>
      <p:sp>
        <p:nvSpPr>
          <p:cNvPr id="29" name="TextBox 28"/>
          <p:cNvSpPr txBox="1"/>
          <p:nvPr/>
        </p:nvSpPr>
        <p:spPr>
          <a:xfrm>
            <a:off x="4667250" y="5200650"/>
            <a:ext cx="2838450" cy="476250"/>
          </a:xfrm>
          <a:prstGeom prst="rect">
            <a:avLst/>
          </a:prstGeom>
          <a:noFill/>
        </p:spPr>
        <p:txBody>
          <a:bodyPr wrap="square" lIns="0" rIns="0" tIns="0" bIns="0" anchor="t">
            <a:spAutoFit/>
          </a:bodyPr>
          <a:lstStyle/>
          <a:p>
            <a:pPr algn="l">
              <a:lnSpc>
                <a:spcPct val="135000"/>
              </a:lnSpc>
            </a:pPr>
            <a:r>
              <a:rPr sz="1280" b="0" i="0" u="none">
                <a:solidFill>
                  <a:srgbClr val="A4ADBA"/>
                </a:solidFill>
                <a:latin typeface="Segoe UI"/>
              </a:rPr>
              <a:t>YOLOv8n · liste blanche · 20 s</a:t>
            </a:r>
          </a:p>
        </p:txBody>
      </p:sp>
      <p:sp>
        <p:nvSpPr>
          <p:cNvPr id="30" name="Rounded Rectangle 29"/>
          <p:cNvSpPr/>
          <p:nvPr/>
        </p:nvSpPr>
        <p:spPr>
          <a:xfrm>
            <a:off x="7886700" y="4591050"/>
            <a:ext cx="3219450" cy="895350"/>
          </a:xfrm>
          <a:prstGeom prst="roundRect">
            <a:avLst>
              <a:gd name="adj" fmla="val 12765"/>
            </a:avLst>
          </a:prstGeom>
          <a:solidFill>
            <a:srgbClr val="1B222C"/>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077200" y="4819650"/>
            <a:ext cx="2838450" cy="381000"/>
          </a:xfrm>
          <a:prstGeom prst="rect">
            <a:avLst/>
          </a:prstGeom>
          <a:noFill/>
        </p:spPr>
        <p:txBody>
          <a:bodyPr wrap="square" lIns="0" rIns="0" tIns="0" bIns="0" anchor="t">
            <a:spAutoFit/>
          </a:bodyPr>
          <a:lstStyle/>
          <a:p>
            <a:pPr algn="l">
              <a:lnSpc>
                <a:spcPct val="130000"/>
              </a:lnSpc>
            </a:pPr>
            <a:r>
              <a:rPr sz="1800" b="1" i="0" u="none">
                <a:solidFill>
                  <a:srgbClr val="E6E9EE"/>
                </a:solidFill>
                <a:latin typeface="Segoe UI"/>
              </a:rPr>
              <a:t>IA prédictive</a:t>
            </a:r>
          </a:p>
        </p:txBody>
      </p:sp>
      <p:sp>
        <p:nvSpPr>
          <p:cNvPr id="32" name="TextBox 31"/>
          <p:cNvSpPr txBox="1"/>
          <p:nvPr/>
        </p:nvSpPr>
        <p:spPr>
          <a:xfrm>
            <a:off x="8077200" y="5200650"/>
            <a:ext cx="2838450" cy="476250"/>
          </a:xfrm>
          <a:prstGeom prst="rect">
            <a:avLst/>
          </a:prstGeom>
          <a:noFill/>
        </p:spPr>
        <p:txBody>
          <a:bodyPr wrap="square" lIns="0" rIns="0" tIns="0" bIns="0" anchor="t">
            <a:spAutoFit/>
          </a:bodyPr>
          <a:lstStyle/>
          <a:p>
            <a:pPr algn="l">
              <a:lnSpc>
                <a:spcPct val="135000"/>
              </a:lnSpc>
            </a:pPr>
            <a:r>
              <a:rPr sz="1280" b="0" i="0" u="none">
                <a:solidFill>
                  <a:srgbClr val="A4ADBA"/>
                </a:solidFill>
                <a:latin typeface="Segoe UI"/>
              </a:rPr>
              <a:t>Isolation Forest · seuil appris</a:t>
            </a:r>
          </a:p>
        </p:txBody>
      </p:sp>
      <p:sp>
        <p:nvSpPr>
          <p:cNvPr id="33" name="TextBox 32"/>
          <p:cNvSpPr txBox="1"/>
          <p:nvPr/>
        </p:nvSpPr>
        <p:spPr>
          <a:xfrm>
            <a:off x="914400" y="5772150"/>
            <a:ext cx="10363200" cy="571500"/>
          </a:xfrm>
          <a:prstGeom prst="rect">
            <a:avLst/>
          </a:prstGeom>
          <a:noFill/>
        </p:spPr>
        <p:txBody>
          <a:bodyPr wrap="square" lIns="0" rIns="0" tIns="0" bIns="0" anchor="t">
            <a:spAutoFit/>
          </a:bodyPr>
          <a:lstStyle/>
          <a:p>
            <a:pPr algn="l">
              <a:lnSpc>
                <a:spcPct val="130000"/>
              </a:lnSpc>
            </a:pPr>
            <a:r>
              <a:rPr sz="1950" b="0" i="0" u="none">
                <a:solidFill>
                  <a:srgbClr val="A4ADBA"/>
                </a:solidFill>
                <a:latin typeface="Segoe UI"/>
              </a:rPr>
              <a:t>Le compte du serveur ne peut pas publier de mesures : l'ACL le refuse.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858500" y="628650"/>
            <a:ext cx="419100" cy="419100"/>
          </a:xfrm>
          <a:prstGeom prst="rect">
            <a:avLst/>
          </a:prstGeom>
        </p:spPr>
      </p:pic>
      <p:sp>
        <p:nvSpPr>
          <p:cNvPr id="3" name="TextBox 2"/>
          <p:cNvSpPr txBox="1"/>
          <p:nvPr/>
        </p:nvSpPr>
        <p:spPr>
          <a:xfrm>
            <a:off x="914400" y="685800"/>
            <a:ext cx="7429500" cy="247650"/>
          </a:xfrm>
          <a:prstGeom prst="rect">
            <a:avLst/>
          </a:prstGeom>
          <a:noFill/>
        </p:spPr>
        <p:txBody>
          <a:bodyPr wrap="square" lIns="0" rIns="0" tIns="0" bIns="0" anchor="t">
            <a:spAutoFit/>
          </a:bodyPr>
          <a:lstStyle/>
          <a:p>
            <a:pPr algn="l">
              <a:lnSpc>
                <a:spcPct val="130000"/>
              </a:lnSpc>
            </a:pPr>
            <a:r>
              <a:rPr sz="1280" b="1" i="0" u="none" spc="240">
                <a:solidFill>
                  <a:srgbClr val="79AAF7"/>
                </a:solidFill>
                <a:latin typeface="Segoe UI"/>
              </a:rPr>
              <a:t>IA — VISION</a:t>
            </a:r>
          </a:p>
        </p:txBody>
      </p:sp>
      <p:sp>
        <p:nvSpPr>
          <p:cNvPr id="4" name="TextBox 3"/>
          <p:cNvSpPr txBox="1"/>
          <p:nvPr/>
        </p:nvSpPr>
        <p:spPr>
          <a:xfrm>
            <a:off x="914400" y="1009650"/>
            <a:ext cx="10363200" cy="1181100"/>
          </a:xfrm>
          <a:prstGeom prst="rect">
            <a:avLst/>
          </a:prstGeom>
          <a:noFill/>
        </p:spPr>
        <p:txBody>
          <a:bodyPr wrap="square" lIns="0" rIns="0" tIns="0" bIns="0" anchor="t">
            <a:spAutoFit/>
          </a:bodyPr>
          <a:lstStyle/>
          <a:p>
            <a:pPr algn="l">
              <a:lnSpc>
                <a:spcPct val="115000"/>
              </a:lnSpc>
            </a:pPr>
            <a:r>
              <a:rPr sz="3900" b="1" i="0" u="none">
                <a:solidFill>
                  <a:srgbClr val="E6E9EE"/>
                </a:solidFill>
                <a:latin typeface="Segoe UI"/>
              </a:rPr>
              <a:t>Reconnaître, pas seulement détecter</a:t>
            </a:r>
          </a:p>
        </p:txBody>
      </p:sp>
      <p:sp>
        <p:nvSpPr>
          <p:cNvPr id="5" name="Rectangle 4"/>
          <p:cNvSpPr/>
          <p:nvPr/>
        </p:nvSpPr>
        <p:spPr>
          <a:xfrm>
            <a:off x="914400" y="2343150"/>
            <a:ext cx="914400" cy="5715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vision.jpg"/>
          <p:cNvPicPr>
            <a:picLocks noChangeAspect="1"/>
          </p:cNvPicPr>
          <p:nvPr/>
        </p:nvPicPr>
        <p:blipFill>
          <a:blip r:embed="rId3"/>
          <a:stretch>
            <a:fillRect/>
          </a:stretch>
        </p:blipFill>
        <p:spPr>
          <a:xfrm>
            <a:off x="914400" y="2781300"/>
            <a:ext cx="3810000" cy="2857500"/>
          </a:xfrm>
          <a:prstGeom prst="rect">
            <a:avLst/>
          </a:prstGeom>
        </p:spPr>
      </p:pic>
      <p:sp>
        <p:nvSpPr>
          <p:cNvPr id="7" name="TextBox 6"/>
          <p:cNvSpPr txBox="1"/>
          <p:nvPr/>
        </p:nvSpPr>
        <p:spPr>
          <a:xfrm>
            <a:off x="5105400" y="2857500"/>
            <a:ext cx="6172200" cy="1333500"/>
          </a:xfrm>
          <a:prstGeom prst="rect">
            <a:avLst/>
          </a:prstGeom>
          <a:noFill/>
        </p:spPr>
        <p:txBody>
          <a:bodyPr wrap="square" lIns="0" rIns="0" tIns="0" bIns="0" anchor="t">
            <a:spAutoFit/>
          </a:bodyPr>
          <a:lstStyle/>
          <a:p>
            <a:pPr algn="l">
              <a:lnSpc>
                <a:spcPct val="100000"/>
              </a:lnSpc>
            </a:pPr>
            <a:r>
              <a:rPr sz="8100" b="1" i="0" u="none">
                <a:solidFill>
                  <a:srgbClr val="E6E9EE"/>
                </a:solidFill>
                <a:latin typeface="Segoe UI"/>
              </a:rPr>
              <a:t>20 s</a:t>
            </a:r>
          </a:p>
        </p:txBody>
      </p:sp>
      <p:sp>
        <p:nvSpPr>
          <p:cNvPr id="8" name="TextBox 7"/>
          <p:cNvSpPr txBox="1"/>
          <p:nvPr/>
        </p:nvSpPr>
        <p:spPr>
          <a:xfrm>
            <a:off x="5105400" y="4248150"/>
            <a:ext cx="6172200" cy="571500"/>
          </a:xfrm>
          <a:prstGeom prst="rect">
            <a:avLst/>
          </a:prstGeom>
          <a:noFill/>
        </p:spPr>
        <p:txBody>
          <a:bodyPr wrap="square" lIns="0" rIns="0" tIns="0" bIns="0" anchor="t">
            <a:spAutoFit/>
          </a:bodyPr>
          <a:lstStyle/>
          <a:p>
            <a:pPr algn="l">
              <a:lnSpc>
                <a:spcPct val="130000"/>
              </a:lnSpc>
            </a:pPr>
            <a:r>
              <a:rPr sz="1950" b="0" i="0" u="none">
                <a:solidFill>
                  <a:srgbClr val="A4ADBA"/>
                </a:solidFill>
                <a:latin typeface="Segoe UI"/>
              </a:rPr>
              <a:t>avant que l'alarme ne part</a:t>
            </a:r>
          </a:p>
        </p:txBody>
      </p:sp>
      <p:sp>
        <p:nvSpPr>
          <p:cNvPr id="9" name="TextBox 8"/>
          <p:cNvSpPr txBox="1"/>
          <p:nvPr/>
        </p:nvSpPr>
        <p:spPr>
          <a:xfrm>
            <a:off x="5105400" y="4914900"/>
            <a:ext cx="6172200" cy="952500"/>
          </a:xfrm>
          <a:prstGeom prst="rect">
            <a:avLst/>
          </a:prstGeom>
          <a:noFill/>
        </p:spPr>
        <p:txBody>
          <a:bodyPr wrap="square" lIns="0" rIns="0" tIns="0" bIns="0" anchor="t">
            <a:spAutoFit/>
          </a:bodyPr>
          <a:lstStyle/>
          <a:p>
            <a:pPr algn="l">
              <a:lnSpc>
                <a:spcPct val="140000"/>
              </a:lnSpc>
            </a:pPr>
            <a:r>
              <a:rPr sz="1800" b="0" i="0" u="none">
                <a:solidFill>
                  <a:srgbClr val="A4ADBA"/>
                </a:solidFill>
                <a:latin typeface="Segoe UI"/>
              </a:rPr>
              <a:t>Liste blanche : le personnel autorisé ne déclenche rien.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858500" y="628650"/>
            <a:ext cx="419100" cy="419100"/>
          </a:xfrm>
          <a:prstGeom prst="rect">
            <a:avLst/>
          </a:prstGeom>
        </p:spPr>
      </p:pic>
      <p:sp>
        <p:nvSpPr>
          <p:cNvPr id="3" name="TextBox 2"/>
          <p:cNvSpPr txBox="1"/>
          <p:nvPr/>
        </p:nvSpPr>
        <p:spPr>
          <a:xfrm>
            <a:off x="914400" y="685800"/>
            <a:ext cx="7429500" cy="247650"/>
          </a:xfrm>
          <a:prstGeom prst="rect">
            <a:avLst/>
          </a:prstGeom>
          <a:noFill/>
        </p:spPr>
        <p:txBody>
          <a:bodyPr wrap="square" lIns="0" rIns="0" tIns="0" bIns="0" anchor="t">
            <a:spAutoFit/>
          </a:bodyPr>
          <a:lstStyle/>
          <a:p>
            <a:pPr algn="l">
              <a:lnSpc>
                <a:spcPct val="130000"/>
              </a:lnSpc>
            </a:pPr>
            <a:r>
              <a:rPr sz="1280" b="1" i="0" u="none" spc="240">
                <a:solidFill>
                  <a:srgbClr val="79AAF7"/>
                </a:solidFill>
                <a:latin typeface="Segoe UI"/>
              </a:rPr>
              <a:t>IA — PRÉDICTIVE</a:t>
            </a:r>
          </a:p>
        </p:txBody>
      </p:sp>
      <p:sp>
        <p:nvSpPr>
          <p:cNvPr id="4" name="TextBox 3"/>
          <p:cNvSpPr txBox="1"/>
          <p:nvPr/>
        </p:nvSpPr>
        <p:spPr>
          <a:xfrm>
            <a:off x="914400" y="1009650"/>
            <a:ext cx="10363200" cy="1181100"/>
          </a:xfrm>
          <a:prstGeom prst="rect">
            <a:avLst/>
          </a:prstGeom>
          <a:noFill/>
        </p:spPr>
        <p:txBody>
          <a:bodyPr wrap="square" lIns="0" rIns="0" tIns="0" bIns="0" anchor="t">
            <a:spAutoFit/>
          </a:bodyPr>
          <a:lstStyle/>
          <a:p>
            <a:pPr algn="l">
              <a:lnSpc>
                <a:spcPct val="115000"/>
              </a:lnSpc>
            </a:pPr>
            <a:r>
              <a:rPr sz="3900" b="1" i="0" u="none">
                <a:solidFill>
                  <a:srgbClr val="E6E9EE"/>
                </a:solidFill>
                <a:latin typeface="Segoe UI"/>
              </a:rPr>
              <a:t>Alerter avant le seuil, pas après</a:t>
            </a:r>
          </a:p>
        </p:txBody>
      </p:sp>
      <p:sp>
        <p:nvSpPr>
          <p:cNvPr id="5" name="Rectangle 4"/>
          <p:cNvSpPr/>
          <p:nvPr/>
        </p:nvSpPr>
        <p:spPr>
          <a:xfrm>
            <a:off x="914400" y="2343150"/>
            <a:ext cx="914400" cy="5715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6" name="Chart 5"/>
          <p:cNvGraphicFramePr>
            <a:graphicFrameLocks noGrp="1"/>
          </p:cNvGraphicFramePr>
          <p:nvPr/>
        </p:nvGraphicFramePr>
        <p:xfrm>
          <a:off x="914400" y="2781300"/>
          <a:ext cx="5905500" cy="2857500"/>
        </p:xfrm>
        <a:graphic>
          <a:graphicData uri="http://schemas.openxmlformats.org/drawingml/2006/chart">
            <c:chart xmlns:c="http://schemas.openxmlformats.org/drawingml/2006/chart" r:id="rId3"/>
          </a:graphicData>
        </a:graphic>
      </p:graphicFrame>
      <p:sp>
        <p:nvSpPr>
          <p:cNvPr id="7" name="TextBox 6"/>
          <p:cNvSpPr txBox="1"/>
          <p:nvPr/>
        </p:nvSpPr>
        <p:spPr>
          <a:xfrm>
            <a:off x="7067550" y="2857500"/>
            <a:ext cx="4210050" cy="1143000"/>
          </a:xfrm>
          <a:prstGeom prst="rect">
            <a:avLst/>
          </a:prstGeom>
          <a:noFill/>
        </p:spPr>
        <p:txBody>
          <a:bodyPr wrap="square" lIns="0" rIns="0" tIns="0" bIns="0" anchor="t">
            <a:spAutoFit/>
          </a:bodyPr>
          <a:lstStyle/>
          <a:p>
            <a:pPr algn="l">
              <a:lnSpc>
                <a:spcPct val="100000"/>
              </a:lnSpc>
            </a:pPr>
            <a:r>
              <a:rPr sz="6600" b="1" i="0" u="none">
                <a:solidFill>
                  <a:srgbClr val="79AAF7"/>
                </a:solidFill>
                <a:latin typeface="Segoe UI"/>
              </a:rPr>
              <a:t>436 s</a:t>
            </a:r>
          </a:p>
        </p:txBody>
      </p:sp>
      <p:sp>
        <p:nvSpPr>
          <p:cNvPr id="8" name="TextBox 7"/>
          <p:cNvSpPr txBox="1"/>
          <p:nvPr/>
        </p:nvSpPr>
        <p:spPr>
          <a:xfrm>
            <a:off x="7067550" y="3905250"/>
            <a:ext cx="4210050" cy="666750"/>
          </a:xfrm>
          <a:prstGeom prst="rect">
            <a:avLst/>
          </a:prstGeom>
          <a:noFill/>
        </p:spPr>
        <p:txBody>
          <a:bodyPr wrap="square" lIns="0" rIns="0" tIns="0" bIns="0" anchor="t">
            <a:spAutoFit/>
          </a:bodyPr>
          <a:lstStyle/>
          <a:p>
            <a:pPr algn="l">
              <a:lnSpc>
                <a:spcPct val="135000"/>
              </a:lnSpc>
            </a:pPr>
            <a:r>
              <a:rPr sz="1800" b="0" i="0" u="none">
                <a:solidFill>
                  <a:srgbClr val="A4ADBA"/>
                </a:solidFill>
                <a:latin typeface="Segoe UI"/>
              </a:rPr>
              <a:t>d'avance sur le seuil critique</a:t>
            </a:r>
          </a:p>
        </p:txBody>
      </p:sp>
      <p:sp>
        <p:nvSpPr>
          <p:cNvPr id="9" name="TextBox 8"/>
          <p:cNvSpPr txBox="1"/>
          <p:nvPr/>
        </p:nvSpPr>
        <p:spPr>
          <a:xfrm>
            <a:off x="7067550" y="4724400"/>
            <a:ext cx="4210050" cy="1047750"/>
          </a:xfrm>
          <a:prstGeom prst="rect">
            <a:avLst/>
          </a:prstGeom>
          <a:noFill/>
        </p:spPr>
        <p:txBody>
          <a:bodyPr wrap="square" lIns="0" rIns="0" tIns="0" bIns="0" anchor="t">
            <a:spAutoFit/>
          </a:bodyPr>
          <a:lstStyle/>
          <a:p>
            <a:pPr algn="l">
              <a:lnSpc>
                <a:spcPct val="140000"/>
              </a:lnSpc>
            </a:pPr>
            <a:r>
              <a:rPr sz="1800" b="1" i="0" u="sng">
                <a:solidFill>
                  <a:srgbClr val="A4ADBA"/>
                </a:solidFill>
                <a:latin typeface="Segoe UI"/>
              </a:rPr>
              <a:t>Seuil appris</a:t>
            </a:r>
            <a:r>
              <a:rPr sz="1800" b="1" i="0" u="sng">
                <a:solidFill>
                  <a:srgbClr val="A4ADBA"/>
                </a:solidFill>
                <a:latin typeface="Segoe UI"/>
              </a:rPr>
              <a:t> : 30 mesures, 9 indicateurs, 10 fenêtres anormales avant l'alerte.</a:t>
            </a:r>
          </a:p>
        </p:txBody>
      </p:sp>
      <p:sp>
        <p:nvSpPr>
          <p:cNvPr id="10" name="TextBox 9"/>
          <p:cNvSpPr txBox="1"/>
          <p:nvPr/>
        </p:nvSpPr>
        <p:spPr>
          <a:xfrm>
            <a:off x="914400" y="5791200"/>
            <a:ext cx="5905500" cy="571500"/>
          </a:xfrm>
          <a:prstGeom prst="rect">
            <a:avLst/>
          </a:prstGeom>
          <a:noFill/>
        </p:spPr>
        <p:txBody>
          <a:bodyPr wrap="square" lIns="0" rIns="0" tIns="0" bIns="0" anchor="t">
            <a:spAutoFit/>
          </a:bodyPr>
          <a:lstStyle/>
          <a:p>
            <a:pPr algn="l">
              <a:lnSpc>
                <a:spcPct val="130000"/>
              </a:lnSpc>
            </a:pPr>
            <a:r>
              <a:rPr sz="1800" b="0" i="0" u="none">
                <a:solidFill>
                  <a:srgbClr val="A4ADBA"/>
                </a:solidFill>
                <a:latin typeface="Segoe UI"/>
              </a:rPr>
              <a:t>Alerte vers 25 °C, pour un seuil critique à 40 °C.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858500" y="628650"/>
            <a:ext cx="419100" cy="419100"/>
          </a:xfrm>
          <a:prstGeom prst="rect">
            <a:avLst/>
          </a:prstGeom>
        </p:spPr>
      </p:pic>
      <p:sp>
        <p:nvSpPr>
          <p:cNvPr id="3" name="TextBox 2"/>
          <p:cNvSpPr txBox="1"/>
          <p:nvPr/>
        </p:nvSpPr>
        <p:spPr>
          <a:xfrm>
            <a:off x="914400" y="685800"/>
            <a:ext cx="7429500" cy="247650"/>
          </a:xfrm>
          <a:prstGeom prst="rect">
            <a:avLst/>
          </a:prstGeom>
          <a:noFill/>
        </p:spPr>
        <p:txBody>
          <a:bodyPr wrap="square" lIns="0" rIns="0" tIns="0" bIns="0" anchor="t">
            <a:spAutoFit/>
          </a:bodyPr>
          <a:lstStyle/>
          <a:p>
            <a:pPr algn="l">
              <a:lnSpc>
                <a:spcPct val="130000"/>
              </a:lnSpc>
            </a:pPr>
            <a:r>
              <a:rPr sz="1350" b="1" i="0" u="none" spc="240">
                <a:solidFill>
                  <a:srgbClr val="79AAF7"/>
                </a:solidFill>
                <a:latin typeface="Segoe UI"/>
              </a:rPr>
              <a:t>CE QUI EST MESURÉ</a:t>
            </a:r>
          </a:p>
        </p:txBody>
      </p:sp>
      <p:sp>
        <p:nvSpPr>
          <p:cNvPr id="4" name="TextBox 3"/>
          <p:cNvSpPr txBox="1"/>
          <p:nvPr/>
        </p:nvSpPr>
        <p:spPr>
          <a:xfrm>
            <a:off x="914400" y="1009650"/>
            <a:ext cx="10363200" cy="952500"/>
          </a:xfrm>
          <a:prstGeom prst="rect">
            <a:avLst/>
          </a:prstGeom>
          <a:noFill/>
        </p:spPr>
        <p:txBody>
          <a:bodyPr wrap="square" lIns="0" rIns="0" tIns="0" bIns="0" anchor="t">
            <a:spAutoFit/>
          </a:bodyPr>
          <a:lstStyle/>
          <a:p>
            <a:pPr algn="l">
              <a:lnSpc>
                <a:spcPct val="115000"/>
              </a:lnSpc>
            </a:pPr>
            <a:r>
              <a:rPr sz="3750" b="1" i="0" u="none">
                <a:solidFill>
                  <a:srgbClr val="E6E9EE"/>
                </a:solidFill>
                <a:latin typeface="Segoe UI"/>
              </a:rPr>
              <a:t>Trois chiffres, reproductibles</a:t>
            </a:r>
          </a:p>
        </p:txBody>
      </p:sp>
      <p:sp>
        <p:nvSpPr>
          <p:cNvPr id="5" name="Rectangle 4"/>
          <p:cNvSpPr/>
          <p:nvPr/>
        </p:nvSpPr>
        <p:spPr>
          <a:xfrm>
            <a:off x="914400" y="2343150"/>
            <a:ext cx="914400" cy="5715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971800"/>
            <a:ext cx="3238500" cy="1238250"/>
          </a:xfrm>
          <a:prstGeom prst="rect">
            <a:avLst/>
          </a:prstGeom>
          <a:noFill/>
        </p:spPr>
        <p:txBody>
          <a:bodyPr wrap="square" lIns="0" rIns="0" tIns="0" bIns="0" anchor="t">
            <a:spAutoFit/>
          </a:bodyPr>
          <a:lstStyle/>
          <a:p>
            <a:pPr algn="l">
              <a:lnSpc>
                <a:spcPct val="100000"/>
              </a:lnSpc>
            </a:pPr>
            <a:r>
              <a:rPr sz="7800" b="1" i="0" u="none">
                <a:solidFill>
                  <a:srgbClr val="E6E9EE"/>
                </a:solidFill>
                <a:latin typeface="Segoe UI"/>
              </a:rPr>
              <a:t>114</a:t>
            </a:r>
          </a:p>
        </p:txBody>
      </p:sp>
      <p:sp>
        <p:nvSpPr>
          <p:cNvPr id="7" name="TextBox 6"/>
          <p:cNvSpPr txBox="1"/>
          <p:nvPr/>
        </p:nvSpPr>
        <p:spPr>
          <a:xfrm>
            <a:off x="914400" y="4267200"/>
            <a:ext cx="3238500" cy="571500"/>
          </a:xfrm>
          <a:prstGeom prst="rect">
            <a:avLst/>
          </a:prstGeom>
          <a:noFill/>
        </p:spPr>
        <p:txBody>
          <a:bodyPr wrap="square" lIns="0" rIns="0" tIns="0" bIns="0" anchor="t">
            <a:spAutoFit/>
          </a:bodyPr>
          <a:lstStyle/>
          <a:p>
            <a:pPr algn="l">
              <a:lnSpc>
                <a:spcPct val="130000"/>
              </a:lnSpc>
            </a:pPr>
            <a:r>
              <a:rPr sz="1800" b="0" i="0" u="none">
                <a:solidFill>
                  <a:srgbClr val="A4ADBA"/>
                </a:solidFill>
                <a:latin typeface="Segoe UI"/>
              </a:rPr>
              <a:t>tests automatisés</a:t>
            </a:r>
          </a:p>
        </p:txBody>
      </p:sp>
      <p:sp>
        <p:nvSpPr>
          <p:cNvPr id="8" name="TextBox 7"/>
          <p:cNvSpPr txBox="1"/>
          <p:nvPr/>
        </p:nvSpPr>
        <p:spPr>
          <a:xfrm>
            <a:off x="4495800" y="2971800"/>
            <a:ext cx="3238500" cy="1238250"/>
          </a:xfrm>
          <a:prstGeom prst="rect">
            <a:avLst/>
          </a:prstGeom>
          <a:noFill/>
        </p:spPr>
        <p:txBody>
          <a:bodyPr wrap="square" lIns="0" rIns="0" tIns="0" bIns="0" anchor="t">
            <a:spAutoFit/>
          </a:bodyPr>
          <a:lstStyle/>
          <a:p>
            <a:pPr algn="l">
              <a:lnSpc>
                <a:spcPct val="100000"/>
              </a:lnSpc>
            </a:pPr>
            <a:r>
              <a:rPr sz="7800" b="1" i="0" u="none">
                <a:solidFill>
                  <a:srgbClr val="E6E9EE"/>
                </a:solidFill>
                <a:latin typeface="Segoe UI"/>
              </a:rPr>
              <a:t>32 ms</a:t>
            </a:r>
          </a:p>
        </p:txBody>
      </p:sp>
      <p:sp>
        <p:nvSpPr>
          <p:cNvPr id="9" name="TextBox 8"/>
          <p:cNvSpPr txBox="1"/>
          <p:nvPr/>
        </p:nvSpPr>
        <p:spPr>
          <a:xfrm>
            <a:off x="4495800" y="4267200"/>
            <a:ext cx="3238500" cy="571500"/>
          </a:xfrm>
          <a:prstGeom prst="rect">
            <a:avLst/>
          </a:prstGeom>
          <a:noFill/>
        </p:spPr>
        <p:txBody>
          <a:bodyPr wrap="square" lIns="0" rIns="0" tIns="0" bIns="0" anchor="t">
            <a:spAutoFit/>
          </a:bodyPr>
          <a:lstStyle/>
          <a:p>
            <a:pPr algn="l">
              <a:lnSpc>
                <a:spcPct val="130000"/>
              </a:lnSpc>
            </a:pPr>
            <a:r>
              <a:rPr sz="1800" b="0" i="0" u="none">
                <a:solidFill>
                  <a:srgbClr val="A4ADBA"/>
                </a:solidFill>
                <a:latin typeface="Segoe UI"/>
              </a:rPr>
              <a:t>latence de la vision</a:t>
            </a:r>
          </a:p>
        </p:txBody>
      </p:sp>
      <p:sp>
        <p:nvSpPr>
          <p:cNvPr id="10" name="TextBox 9"/>
          <p:cNvSpPr txBox="1"/>
          <p:nvPr/>
        </p:nvSpPr>
        <p:spPr>
          <a:xfrm>
            <a:off x="8077200" y="2971800"/>
            <a:ext cx="3200400" cy="1238250"/>
          </a:xfrm>
          <a:prstGeom prst="rect">
            <a:avLst/>
          </a:prstGeom>
          <a:noFill/>
        </p:spPr>
        <p:txBody>
          <a:bodyPr wrap="square" lIns="0" rIns="0" tIns="0" bIns="0" anchor="t">
            <a:spAutoFit/>
          </a:bodyPr>
          <a:lstStyle/>
          <a:p>
            <a:pPr algn="l">
              <a:lnSpc>
                <a:spcPct val="100000"/>
              </a:lnSpc>
            </a:pPr>
            <a:r>
              <a:rPr sz="7800" b="1" i="0" u="none">
                <a:solidFill>
                  <a:srgbClr val="5FCF95"/>
                </a:solidFill>
                <a:latin typeface="Segoe UI"/>
              </a:rPr>
              <a:t>7/7</a:t>
            </a:r>
          </a:p>
        </p:txBody>
      </p:sp>
      <p:sp>
        <p:nvSpPr>
          <p:cNvPr id="11" name="TextBox 10"/>
          <p:cNvSpPr txBox="1"/>
          <p:nvPr/>
        </p:nvSpPr>
        <p:spPr>
          <a:xfrm>
            <a:off x="8077200" y="4267200"/>
            <a:ext cx="3200400" cy="571500"/>
          </a:xfrm>
          <a:prstGeom prst="rect">
            <a:avLst/>
          </a:prstGeom>
          <a:noFill/>
        </p:spPr>
        <p:txBody>
          <a:bodyPr wrap="square" lIns="0" rIns="0" tIns="0" bIns="0" anchor="t">
            <a:spAutoFit/>
          </a:bodyPr>
          <a:lstStyle/>
          <a:p>
            <a:pPr algn="l">
              <a:lnSpc>
                <a:spcPct val="130000"/>
              </a:lnSpc>
            </a:pPr>
            <a:r>
              <a:rPr sz="1800" b="0" i="0" u="none">
                <a:solidFill>
                  <a:srgbClr val="A4ADBA"/>
                </a:solidFill>
                <a:latin typeface="Segoe UI"/>
              </a:rPr>
              <a:t>contrôles de sécurité</a:t>
            </a:r>
          </a:p>
        </p:txBody>
      </p:sp>
      <p:sp>
        <p:nvSpPr>
          <p:cNvPr id="12" name="TextBox 11"/>
          <p:cNvSpPr txBox="1"/>
          <p:nvPr/>
        </p:nvSpPr>
        <p:spPr>
          <a:xfrm>
            <a:off x="914400" y="5486400"/>
            <a:ext cx="10363200" cy="571500"/>
          </a:xfrm>
          <a:prstGeom prst="rect">
            <a:avLst/>
          </a:prstGeom>
          <a:noFill/>
        </p:spPr>
        <p:txBody>
          <a:bodyPr wrap="square" lIns="0" rIns="0" tIns="0" bIns="0" anchor="t">
            <a:spAutoFit/>
          </a:bodyPr>
          <a:lstStyle/>
          <a:p>
            <a:pPr algn="l">
              <a:lnSpc>
                <a:spcPct val="130000"/>
              </a:lnSpc>
            </a:pPr>
            <a:r>
              <a:rPr sz="1650" b="0" i="0" u="none">
                <a:solidFill>
                  <a:srgbClr val="8A94A3"/>
                </a:solidFill>
                <a:latin typeface="Consolas"/>
              </a:rPr>
              <a:t>pytest -q  ·  scripts/bench_vision.py  ·  scripts/check_security.py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858500" y="628650"/>
            <a:ext cx="419100" cy="419100"/>
          </a:xfrm>
          <a:prstGeom prst="rect">
            <a:avLst/>
          </a:prstGeom>
        </p:spPr>
      </p:pic>
      <p:sp>
        <p:nvSpPr>
          <p:cNvPr id="3" name="TextBox 2"/>
          <p:cNvSpPr txBox="1"/>
          <p:nvPr/>
        </p:nvSpPr>
        <p:spPr>
          <a:xfrm>
            <a:off x="914400" y="685800"/>
            <a:ext cx="7429500" cy="247650"/>
          </a:xfrm>
          <a:prstGeom prst="rect">
            <a:avLst/>
          </a:prstGeom>
          <a:noFill/>
        </p:spPr>
        <p:txBody>
          <a:bodyPr wrap="square" lIns="0" rIns="0" tIns="0" bIns="0" anchor="t">
            <a:spAutoFit/>
          </a:bodyPr>
          <a:lstStyle/>
          <a:p>
            <a:pPr algn="l">
              <a:lnSpc>
                <a:spcPct val="130000"/>
              </a:lnSpc>
            </a:pPr>
            <a:r>
              <a:rPr sz="1280" b="1" i="0" u="none" spc="240">
                <a:solidFill>
                  <a:srgbClr val="79AAF7"/>
                </a:solidFill>
                <a:latin typeface="Segoe UI"/>
              </a:rPr>
              <a:t>SUPERVISION</a:t>
            </a:r>
          </a:p>
        </p:txBody>
      </p:sp>
      <p:sp>
        <p:nvSpPr>
          <p:cNvPr id="4" name="TextBox 3"/>
          <p:cNvSpPr txBox="1"/>
          <p:nvPr/>
        </p:nvSpPr>
        <p:spPr>
          <a:xfrm>
            <a:off x="914400" y="1009650"/>
            <a:ext cx="10363200" cy="1181100"/>
          </a:xfrm>
          <a:prstGeom prst="rect">
            <a:avLst/>
          </a:prstGeom>
          <a:noFill/>
        </p:spPr>
        <p:txBody>
          <a:bodyPr wrap="square" lIns="0" rIns="0" tIns="0" bIns="0" anchor="t">
            <a:spAutoFit/>
          </a:bodyPr>
          <a:lstStyle/>
          <a:p>
            <a:pPr algn="l">
              <a:lnSpc>
                <a:spcPct val="115000"/>
              </a:lnSpc>
            </a:pPr>
            <a:r>
              <a:rPr sz="3900" b="1" i="0" u="none">
                <a:solidFill>
                  <a:srgbClr val="E6E9EE"/>
                </a:solidFill>
                <a:latin typeface="Segoe UI"/>
              </a:rPr>
              <a:t>Le poste de conduite</a:t>
            </a:r>
          </a:p>
        </p:txBody>
      </p:sp>
      <p:sp>
        <p:nvSpPr>
          <p:cNvPr id="5" name="Rectangle 4"/>
          <p:cNvSpPr/>
          <p:nvPr/>
        </p:nvSpPr>
        <p:spPr>
          <a:xfrm>
            <a:off x="914400" y="2343150"/>
            <a:ext cx="914400" cy="5715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ashboard-banner.jpg"/>
          <p:cNvPicPr>
            <a:picLocks noChangeAspect="1"/>
          </p:cNvPicPr>
          <p:nvPr/>
        </p:nvPicPr>
        <p:blipFill>
          <a:blip r:embed="rId3"/>
          <a:stretch>
            <a:fillRect/>
          </a:stretch>
        </p:blipFill>
        <p:spPr>
          <a:xfrm>
            <a:off x="914400" y="2724150"/>
            <a:ext cx="10363200" cy="3200400"/>
          </a:xfrm>
          <a:prstGeom prst="rect">
            <a:avLst/>
          </a:prstGeom>
        </p:spPr>
      </p:pic>
      <p:sp>
        <p:nvSpPr>
          <p:cNvPr id="7" name="TextBox 6"/>
          <p:cNvSpPr txBox="1"/>
          <p:nvPr/>
        </p:nvSpPr>
        <p:spPr>
          <a:xfrm>
            <a:off x="914400" y="6096000"/>
            <a:ext cx="10363200" cy="571500"/>
          </a:xfrm>
          <a:prstGeom prst="rect">
            <a:avLst/>
          </a:prstGeom>
          <a:noFill/>
        </p:spPr>
        <p:txBody>
          <a:bodyPr wrap="square" lIns="0" rIns="0" tIns="0" bIns="0" anchor="t">
            <a:spAutoFit/>
          </a:bodyPr>
          <a:lstStyle/>
          <a:p>
            <a:pPr algn="l">
              <a:lnSpc>
                <a:spcPct val="130000"/>
              </a:lnSpc>
            </a:pPr>
            <a:r>
              <a:rPr sz="1800" b="0" i="0" u="none">
                <a:solidFill>
                  <a:srgbClr val="A4ADBA"/>
                </a:solidFill>
                <a:latin typeface="Segoe UI"/>
              </a:rPr>
              <a:t>Une seule connexion temps réel ; au-delà de 10 s sans mesure, le site le dit.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858500" y="628650"/>
            <a:ext cx="419100" cy="419100"/>
          </a:xfrm>
          <a:prstGeom prst="rect">
            <a:avLst/>
          </a:prstGeom>
        </p:spPr>
      </p:pic>
      <p:sp>
        <p:nvSpPr>
          <p:cNvPr id="3" name="TextBox 2"/>
          <p:cNvSpPr txBox="1"/>
          <p:nvPr/>
        </p:nvSpPr>
        <p:spPr>
          <a:xfrm>
            <a:off x="914400" y="685800"/>
            <a:ext cx="7429500" cy="247650"/>
          </a:xfrm>
          <a:prstGeom prst="rect">
            <a:avLst/>
          </a:prstGeom>
          <a:noFill/>
        </p:spPr>
        <p:txBody>
          <a:bodyPr wrap="square" lIns="0" rIns="0" tIns="0" bIns="0" anchor="t">
            <a:spAutoFit/>
          </a:bodyPr>
          <a:lstStyle/>
          <a:p>
            <a:pPr algn="l">
              <a:lnSpc>
                <a:spcPct val="130000"/>
              </a:lnSpc>
            </a:pPr>
            <a:r>
              <a:rPr sz="1280" b="1" i="0" u="none" spc="240">
                <a:solidFill>
                  <a:srgbClr val="79AAF7"/>
                </a:solidFill>
                <a:latin typeface="Segoe UI"/>
              </a:rPr>
              <a:t>EXPLOITATION</a:t>
            </a:r>
          </a:p>
        </p:txBody>
      </p:sp>
      <p:sp>
        <p:nvSpPr>
          <p:cNvPr id="4" name="TextBox 3"/>
          <p:cNvSpPr txBox="1"/>
          <p:nvPr/>
        </p:nvSpPr>
        <p:spPr>
          <a:xfrm>
            <a:off x="914400" y="1009650"/>
            <a:ext cx="10363200" cy="1181100"/>
          </a:xfrm>
          <a:prstGeom prst="rect">
            <a:avLst/>
          </a:prstGeom>
          <a:noFill/>
        </p:spPr>
        <p:txBody>
          <a:bodyPr wrap="square" lIns="0" rIns="0" tIns="0" bIns="0" anchor="t">
            <a:spAutoFit/>
          </a:bodyPr>
          <a:lstStyle/>
          <a:p>
            <a:pPr algn="l">
              <a:lnSpc>
                <a:spcPct val="115000"/>
              </a:lnSpc>
            </a:pPr>
            <a:r>
              <a:rPr sz="3900" b="1" i="0" u="none">
                <a:solidFill>
                  <a:srgbClr val="E6E9EE"/>
                </a:solidFill>
                <a:latin typeface="Segoe UI"/>
              </a:rPr>
              <a:t>Comprendre et surveiller le serveur</a:t>
            </a:r>
          </a:p>
        </p:txBody>
      </p:sp>
      <p:sp>
        <p:nvSpPr>
          <p:cNvPr id="5" name="Rectangle 4"/>
          <p:cNvSpPr/>
          <p:nvPr/>
        </p:nvSpPr>
        <p:spPr>
          <a:xfrm>
            <a:off x="914400" y="2343150"/>
            <a:ext cx="914400" cy="5715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grafana-banner.jpg"/>
          <p:cNvPicPr>
            <a:picLocks noChangeAspect="1"/>
          </p:cNvPicPr>
          <p:nvPr/>
        </p:nvPicPr>
        <p:blipFill>
          <a:blip r:embed="rId3"/>
          <a:stretch>
            <a:fillRect/>
          </a:stretch>
        </p:blipFill>
        <p:spPr>
          <a:xfrm>
            <a:off x="914400" y="2724150"/>
            <a:ext cx="10363200" cy="3200400"/>
          </a:xfrm>
          <a:prstGeom prst="rect">
            <a:avLst/>
          </a:prstGeom>
        </p:spPr>
      </p:pic>
      <p:sp>
        <p:nvSpPr>
          <p:cNvPr id="7" name="TextBox 6"/>
          <p:cNvSpPr txBox="1"/>
          <p:nvPr/>
        </p:nvSpPr>
        <p:spPr>
          <a:xfrm>
            <a:off x="914400" y="6096000"/>
            <a:ext cx="10363200" cy="571500"/>
          </a:xfrm>
          <a:prstGeom prst="rect">
            <a:avLst/>
          </a:prstGeom>
          <a:noFill/>
        </p:spPr>
        <p:txBody>
          <a:bodyPr wrap="square" lIns="0" rIns="0" tIns="0" bIns="0" anchor="t">
            <a:spAutoFit/>
          </a:bodyPr>
          <a:lstStyle/>
          <a:p>
            <a:pPr algn="l">
              <a:lnSpc>
                <a:spcPct val="130000"/>
              </a:lnSpc>
            </a:pPr>
            <a:r>
              <a:rPr sz="1800" b="0" i="0" u="none">
                <a:solidFill>
                  <a:srgbClr val="A4ADBA"/>
                </a:solidFill>
                <a:latin typeface="Segoe UI"/>
              </a:rPr>
              <a:t>Lectures en lecture seule : historique des capteurs et santé du serveur.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858500" y="628650"/>
            <a:ext cx="419100" cy="419100"/>
          </a:xfrm>
          <a:prstGeom prst="rect">
            <a:avLst/>
          </a:prstGeom>
        </p:spPr>
      </p:pic>
      <p:sp>
        <p:nvSpPr>
          <p:cNvPr id="3" name="TextBox 2"/>
          <p:cNvSpPr txBox="1"/>
          <p:nvPr/>
        </p:nvSpPr>
        <p:spPr>
          <a:xfrm>
            <a:off x="914400" y="685800"/>
            <a:ext cx="7429500" cy="247650"/>
          </a:xfrm>
          <a:prstGeom prst="rect">
            <a:avLst/>
          </a:prstGeom>
          <a:noFill/>
        </p:spPr>
        <p:txBody>
          <a:bodyPr wrap="square" lIns="0" rIns="0" tIns="0" bIns="0" anchor="t">
            <a:spAutoFit/>
          </a:bodyPr>
          <a:lstStyle/>
          <a:p>
            <a:pPr algn="l">
              <a:lnSpc>
                <a:spcPct val="130000"/>
              </a:lnSpc>
            </a:pPr>
            <a:r>
              <a:rPr sz="1280" b="1" i="0" u="none" spc="240">
                <a:solidFill>
                  <a:srgbClr val="79AAF7"/>
                </a:solidFill>
                <a:latin typeface="Segoe UI"/>
              </a:rPr>
              <a:t>SÉCURITÉ</a:t>
            </a:r>
          </a:p>
        </p:txBody>
      </p:sp>
      <p:sp>
        <p:nvSpPr>
          <p:cNvPr id="4" name="TextBox 3"/>
          <p:cNvSpPr txBox="1"/>
          <p:nvPr/>
        </p:nvSpPr>
        <p:spPr>
          <a:xfrm>
            <a:off x="914400" y="1009650"/>
            <a:ext cx="10363200" cy="1181100"/>
          </a:xfrm>
          <a:prstGeom prst="rect">
            <a:avLst/>
          </a:prstGeom>
          <a:noFill/>
        </p:spPr>
        <p:txBody>
          <a:bodyPr wrap="square" lIns="0" rIns="0" tIns="0" bIns="0" anchor="t">
            <a:spAutoFit/>
          </a:bodyPr>
          <a:lstStyle/>
          <a:p>
            <a:pPr algn="l">
              <a:lnSpc>
                <a:spcPct val="115000"/>
              </a:lnSpc>
            </a:pPr>
            <a:r>
              <a:rPr sz="3900" b="1" i="0" u="none">
                <a:solidFill>
                  <a:srgbClr val="E6E9EE"/>
                </a:solidFill>
                <a:latin typeface="Segoe UI"/>
              </a:rPr>
              <a:t>Chiffré, authentifié, cloisonné</a:t>
            </a:r>
          </a:p>
        </p:txBody>
      </p:sp>
      <p:sp>
        <p:nvSpPr>
          <p:cNvPr id="5" name="Rectangle 4"/>
          <p:cNvSpPr/>
          <p:nvPr/>
        </p:nvSpPr>
        <p:spPr>
          <a:xfrm>
            <a:off x="914400" y="2343150"/>
            <a:ext cx="914400" cy="5715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914400" y="2781300"/>
            <a:ext cx="2419350" cy="2286000"/>
          </a:xfrm>
          <a:prstGeom prst="roundRect">
            <a:avLst>
              <a:gd name="adj" fmla="val 5833"/>
            </a:avLst>
          </a:prstGeom>
          <a:solidFill>
            <a:srgbClr val="151B23"/>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143000" y="3009900"/>
            <a:ext cx="266700" cy="3810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43000" y="3143250"/>
            <a:ext cx="1962150" cy="685800"/>
          </a:xfrm>
          <a:prstGeom prst="rect">
            <a:avLst/>
          </a:prstGeom>
          <a:noFill/>
        </p:spPr>
        <p:txBody>
          <a:bodyPr wrap="square" lIns="0" rIns="0" tIns="0" bIns="0" anchor="t">
            <a:spAutoFit/>
          </a:bodyPr>
          <a:lstStyle/>
          <a:p>
            <a:pPr algn="l">
              <a:lnSpc>
                <a:spcPct val="130000"/>
              </a:lnSpc>
            </a:pPr>
            <a:r>
              <a:rPr sz="1950" b="1" i="0" u="none">
                <a:solidFill>
                  <a:srgbClr val="E6E9EE"/>
                </a:solidFill>
                <a:latin typeface="Segoe UI"/>
              </a:rPr>
              <a:t>MQTTS</a:t>
            </a:r>
          </a:p>
        </p:txBody>
      </p:sp>
      <p:sp>
        <p:nvSpPr>
          <p:cNvPr id="9" name="TextBox 8"/>
          <p:cNvSpPr txBox="1"/>
          <p:nvPr/>
        </p:nvSpPr>
        <p:spPr>
          <a:xfrm>
            <a:off x="1143000" y="3905250"/>
            <a:ext cx="1962150" cy="914400"/>
          </a:xfrm>
          <a:prstGeom prst="rect">
            <a:avLst/>
          </a:prstGeom>
          <a:noFill/>
        </p:spPr>
        <p:txBody>
          <a:bodyPr wrap="square" lIns="0" rIns="0" tIns="0" bIns="0" anchor="t">
            <a:spAutoFit/>
          </a:bodyPr>
          <a:lstStyle/>
          <a:p>
            <a:pPr algn="l">
              <a:lnSpc>
                <a:spcPct val="145000"/>
              </a:lnSpc>
            </a:pPr>
            <a:r>
              <a:rPr sz="1500" b="0" i="0" u="none">
                <a:solidFill>
                  <a:srgbClr val="A4ADBA"/>
                </a:solidFill>
                <a:latin typeface="Segoe UI"/>
              </a:rPr>
              <a:t>TLS 1.3, port en clair fermé.</a:t>
            </a:r>
          </a:p>
        </p:txBody>
      </p:sp>
      <p:sp>
        <p:nvSpPr>
          <p:cNvPr id="10" name="Rounded Rectangle 9"/>
          <p:cNvSpPr/>
          <p:nvPr/>
        </p:nvSpPr>
        <p:spPr>
          <a:xfrm>
            <a:off x="3562350" y="2781300"/>
            <a:ext cx="2419350" cy="2286000"/>
          </a:xfrm>
          <a:prstGeom prst="roundRect">
            <a:avLst>
              <a:gd name="adj" fmla="val 5833"/>
            </a:avLst>
          </a:prstGeom>
          <a:solidFill>
            <a:srgbClr val="151B23"/>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3790950" y="3009900"/>
            <a:ext cx="266700" cy="3810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790950" y="3143250"/>
            <a:ext cx="1962150" cy="685800"/>
          </a:xfrm>
          <a:prstGeom prst="rect">
            <a:avLst/>
          </a:prstGeom>
          <a:noFill/>
        </p:spPr>
        <p:txBody>
          <a:bodyPr wrap="square" lIns="0" rIns="0" tIns="0" bIns="0" anchor="t">
            <a:spAutoFit/>
          </a:bodyPr>
          <a:lstStyle/>
          <a:p>
            <a:pPr algn="l">
              <a:lnSpc>
                <a:spcPct val="130000"/>
              </a:lnSpc>
            </a:pPr>
            <a:r>
              <a:rPr sz="1950" b="1" i="0" u="none">
                <a:solidFill>
                  <a:srgbClr val="E6E9EE"/>
                </a:solidFill>
                <a:latin typeface="Segoe UI"/>
              </a:rPr>
              <a:t>Comptes et ACL</a:t>
            </a:r>
          </a:p>
        </p:txBody>
      </p:sp>
      <p:sp>
        <p:nvSpPr>
          <p:cNvPr id="13" name="TextBox 12"/>
          <p:cNvSpPr txBox="1"/>
          <p:nvPr/>
        </p:nvSpPr>
        <p:spPr>
          <a:xfrm>
            <a:off x="3790950" y="3905250"/>
            <a:ext cx="1962150" cy="914400"/>
          </a:xfrm>
          <a:prstGeom prst="rect">
            <a:avLst/>
          </a:prstGeom>
          <a:noFill/>
        </p:spPr>
        <p:txBody>
          <a:bodyPr wrap="square" lIns="0" rIns="0" tIns="0" bIns="0" anchor="t">
            <a:spAutoFit/>
          </a:bodyPr>
          <a:lstStyle/>
          <a:p>
            <a:pPr algn="l">
              <a:lnSpc>
                <a:spcPct val="145000"/>
              </a:lnSpc>
            </a:pPr>
            <a:r>
              <a:rPr sz="1500" b="0" i="0" u="none">
                <a:solidFill>
                  <a:srgbClr val="A4ADBA"/>
                </a:solidFill>
                <a:latin typeface="Segoe UI"/>
              </a:rPr>
              <a:t>Anonyme refusé ; le serveur ne peut pas injecter de mesures.</a:t>
            </a:r>
          </a:p>
        </p:txBody>
      </p:sp>
      <p:sp>
        <p:nvSpPr>
          <p:cNvPr id="14" name="Rounded Rectangle 13"/>
          <p:cNvSpPr/>
          <p:nvPr/>
        </p:nvSpPr>
        <p:spPr>
          <a:xfrm>
            <a:off x="6210300" y="2781300"/>
            <a:ext cx="2419350" cy="2286000"/>
          </a:xfrm>
          <a:prstGeom prst="roundRect">
            <a:avLst>
              <a:gd name="adj" fmla="val 5833"/>
            </a:avLst>
          </a:prstGeom>
          <a:solidFill>
            <a:srgbClr val="151B23"/>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438900" y="3009900"/>
            <a:ext cx="266700" cy="3810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38900" y="3143250"/>
            <a:ext cx="1962150" cy="685800"/>
          </a:xfrm>
          <a:prstGeom prst="rect">
            <a:avLst/>
          </a:prstGeom>
          <a:noFill/>
        </p:spPr>
        <p:txBody>
          <a:bodyPr wrap="square" lIns="0" rIns="0" tIns="0" bIns="0" anchor="t">
            <a:spAutoFit/>
          </a:bodyPr>
          <a:lstStyle/>
          <a:p>
            <a:pPr algn="l">
              <a:lnSpc>
                <a:spcPct val="130000"/>
              </a:lnSpc>
            </a:pPr>
            <a:r>
              <a:rPr sz="1950" b="1" i="0" u="none">
                <a:solidFill>
                  <a:srgbClr val="E6E9EE"/>
                </a:solidFill>
                <a:latin typeface="Segoe UI"/>
              </a:rPr>
              <a:t>Jetons séparés</a:t>
            </a:r>
          </a:p>
        </p:txBody>
      </p:sp>
      <p:sp>
        <p:nvSpPr>
          <p:cNvPr id="17" name="TextBox 16"/>
          <p:cNvSpPr txBox="1"/>
          <p:nvPr/>
        </p:nvSpPr>
        <p:spPr>
          <a:xfrm>
            <a:off x="6438900" y="3905250"/>
            <a:ext cx="1962150" cy="914400"/>
          </a:xfrm>
          <a:prstGeom prst="rect">
            <a:avLst/>
          </a:prstGeom>
          <a:noFill/>
        </p:spPr>
        <p:txBody>
          <a:bodyPr wrap="square" lIns="0" rIns="0" tIns="0" bIns="0" anchor="t">
            <a:spAutoFit/>
          </a:bodyPr>
          <a:lstStyle/>
          <a:p>
            <a:pPr algn="l">
              <a:lnSpc>
                <a:spcPct val="145000"/>
              </a:lnSpc>
            </a:pPr>
            <a:r>
              <a:rPr sz="1500" b="0" i="0" u="none">
                <a:solidFill>
                  <a:srgbClr val="A4ADBA"/>
                </a:solidFill>
                <a:latin typeface="Segoe UI"/>
              </a:rPr>
              <a:t>L'IA alerte, l'opérateur agit. Jamais les deux.</a:t>
            </a:r>
          </a:p>
        </p:txBody>
      </p:sp>
      <p:sp>
        <p:nvSpPr>
          <p:cNvPr id="18" name="Rounded Rectangle 17"/>
          <p:cNvSpPr/>
          <p:nvPr/>
        </p:nvSpPr>
        <p:spPr>
          <a:xfrm>
            <a:off x="8858250" y="2781300"/>
            <a:ext cx="2419350" cy="2286000"/>
          </a:xfrm>
          <a:prstGeom prst="roundRect">
            <a:avLst>
              <a:gd name="adj" fmla="val 5833"/>
            </a:avLst>
          </a:prstGeom>
          <a:solidFill>
            <a:srgbClr val="151B23"/>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9086850" y="3009900"/>
            <a:ext cx="266700" cy="3810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086850" y="3143250"/>
            <a:ext cx="1962150" cy="685800"/>
          </a:xfrm>
          <a:prstGeom prst="rect">
            <a:avLst/>
          </a:prstGeom>
          <a:noFill/>
        </p:spPr>
        <p:txBody>
          <a:bodyPr wrap="square" lIns="0" rIns="0" tIns="0" bIns="0" anchor="t">
            <a:spAutoFit/>
          </a:bodyPr>
          <a:lstStyle/>
          <a:p>
            <a:pPr algn="l">
              <a:lnSpc>
                <a:spcPct val="130000"/>
              </a:lnSpc>
            </a:pPr>
            <a:r>
              <a:rPr sz="1950" b="1" i="0" u="none">
                <a:solidFill>
                  <a:srgbClr val="E6E9EE"/>
                </a:solidFill>
                <a:latin typeface="Segoe UI"/>
              </a:rPr>
              <a:t>Conteneurs durcis</a:t>
            </a:r>
          </a:p>
        </p:txBody>
      </p:sp>
      <p:sp>
        <p:nvSpPr>
          <p:cNvPr id="21" name="TextBox 20"/>
          <p:cNvSpPr txBox="1"/>
          <p:nvPr/>
        </p:nvSpPr>
        <p:spPr>
          <a:xfrm>
            <a:off x="9086850" y="3905250"/>
            <a:ext cx="1962150" cy="914400"/>
          </a:xfrm>
          <a:prstGeom prst="rect">
            <a:avLst/>
          </a:prstGeom>
          <a:noFill/>
        </p:spPr>
        <p:txBody>
          <a:bodyPr wrap="square" lIns="0" rIns="0" tIns="0" bIns="0" anchor="t">
            <a:spAutoFit/>
          </a:bodyPr>
          <a:lstStyle/>
          <a:p>
            <a:pPr algn="l">
              <a:lnSpc>
                <a:spcPct val="145000"/>
              </a:lnSpc>
            </a:pPr>
            <a:r>
              <a:rPr sz="1500" b="0" i="0" u="none">
                <a:solidFill>
                  <a:srgbClr val="A4ADBA"/>
                </a:solidFill>
                <a:latin typeface="Segoe UI"/>
              </a:rPr>
              <a:t>Non-root, lecture seule, base non exposée.</a:t>
            </a:r>
          </a:p>
        </p:txBody>
      </p:sp>
      <p:sp>
        <p:nvSpPr>
          <p:cNvPr id="22" name="TextBox 21"/>
          <p:cNvSpPr txBox="1"/>
          <p:nvPr/>
        </p:nvSpPr>
        <p:spPr>
          <a:xfrm>
            <a:off x="914400" y="5391150"/>
            <a:ext cx="10363200" cy="666750"/>
          </a:xfrm>
          <a:prstGeom prst="rect">
            <a:avLst/>
          </a:prstGeom>
          <a:noFill/>
        </p:spPr>
        <p:txBody>
          <a:bodyPr wrap="square" lIns="0" rIns="0" tIns="0" bIns="0" anchor="t">
            <a:spAutoFit/>
          </a:bodyPr>
          <a:lstStyle/>
          <a:p>
            <a:pPr algn="l">
              <a:lnSpc>
                <a:spcPct val="130000"/>
              </a:lnSpc>
            </a:pPr>
            <a:r>
              <a:rPr sz="2250" b="1" i="0" u="none">
                <a:solidFill>
                  <a:srgbClr val="5FCF95"/>
                </a:solidFill>
                <a:latin typeface="Segoe UI"/>
              </a:rPr>
              <a:t>7 / 7 contrôles réussis sur la stack réelle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858500" y="628650"/>
            <a:ext cx="419100" cy="419100"/>
          </a:xfrm>
          <a:prstGeom prst="rect">
            <a:avLst/>
          </a:prstGeom>
        </p:spPr>
      </p:pic>
      <p:sp>
        <p:nvSpPr>
          <p:cNvPr id="3" name="TextBox 2"/>
          <p:cNvSpPr txBox="1"/>
          <p:nvPr/>
        </p:nvSpPr>
        <p:spPr>
          <a:xfrm>
            <a:off x="914400" y="685800"/>
            <a:ext cx="7429500" cy="247650"/>
          </a:xfrm>
          <a:prstGeom prst="rect">
            <a:avLst/>
          </a:prstGeom>
          <a:noFill/>
        </p:spPr>
        <p:txBody>
          <a:bodyPr wrap="square" lIns="0" rIns="0" tIns="0" bIns="0" anchor="t">
            <a:spAutoFit/>
          </a:bodyPr>
          <a:lstStyle/>
          <a:p>
            <a:pPr algn="l">
              <a:lnSpc>
                <a:spcPct val="130000"/>
              </a:lnSpc>
            </a:pPr>
            <a:r>
              <a:rPr sz="1280" b="1" i="0" u="none" spc="240">
                <a:solidFill>
                  <a:srgbClr val="79AAF7"/>
                </a:solidFill>
                <a:latin typeface="Segoe UI"/>
              </a:rPr>
              <a:t>L'ÉQUIPE</a:t>
            </a:r>
          </a:p>
        </p:txBody>
      </p:sp>
      <p:sp>
        <p:nvSpPr>
          <p:cNvPr id="4" name="TextBox 3"/>
          <p:cNvSpPr txBox="1"/>
          <p:nvPr/>
        </p:nvSpPr>
        <p:spPr>
          <a:xfrm>
            <a:off x="914400" y="1009650"/>
            <a:ext cx="10363200" cy="1181100"/>
          </a:xfrm>
          <a:prstGeom prst="rect">
            <a:avLst/>
          </a:prstGeom>
          <a:noFill/>
        </p:spPr>
        <p:txBody>
          <a:bodyPr wrap="square" lIns="0" rIns="0" tIns="0" bIns="0" anchor="t">
            <a:spAutoFit/>
          </a:bodyPr>
          <a:lstStyle/>
          <a:p>
            <a:pPr algn="l">
              <a:lnSpc>
                <a:spcPct val="115000"/>
              </a:lnSpc>
            </a:pPr>
            <a:r>
              <a:rPr sz="3900" b="1" i="0" u="none">
                <a:solidFill>
                  <a:srgbClr val="E6E9EE"/>
                </a:solidFill>
                <a:latin typeface="Segoe UI"/>
              </a:rPr>
              <a:t>Cinq personnes, quatre filières</a:t>
            </a:r>
          </a:p>
        </p:txBody>
      </p:sp>
      <p:sp>
        <p:nvSpPr>
          <p:cNvPr id="5" name="Rectangle 4"/>
          <p:cNvSpPr/>
          <p:nvPr/>
        </p:nvSpPr>
        <p:spPr>
          <a:xfrm>
            <a:off x="914400" y="2343150"/>
            <a:ext cx="914400" cy="5715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914400" y="2990850"/>
            <a:ext cx="57150" cy="32385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62050" y="2952750"/>
            <a:ext cx="4095750" cy="419100"/>
          </a:xfrm>
          <a:prstGeom prst="rect">
            <a:avLst/>
          </a:prstGeom>
          <a:noFill/>
        </p:spPr>
        <p:txBody>
          <a:bodyPr wrap="square" lIns="0" rIns="0" tIns="0" bIns="0" anchor="t">
            <a:spAutoFit/>
          </a:bodyPr>
          <a:lstStyle/>
          <a:p>
            <a:pPr algn="l">
              <a:lnSpc>
                <a:spcPct val="130000"/>
              </a:lnSpc>
            </a:pPr>
            <a:r>
              <a:rPr sz="2100" b="1" i="0" u="none">
                <a:solidFill>
                  <a:srgbClr val="E6E9EE"/>
                </a:solidFill>
                <a:latin typeface="Segoe UI"/>
              </a:rPr>
              <a:t>Kephren BIBANG</a:t>
            </a:r>
          </a:p>
        </p:txBody>
      </p:sp>
      <p:sp>
        <p:nvSpPr>
          <p:cNvPr id="8" name="TextBox 7"/>
          <p:cNvSpPr txBox="1"/>
          <p:nvPr/>
        </p:nvSpPr>
        <p:spPr>
          <a:xfrm>
            <a:off x="5448300" y="2990850"/>
            <a:ext cx="1714500" cy="381000"/>
          </a:xfrm>
          <a:prstGeom prst="rect">
            <a:avLst/>
          </a:prstGeom>
          <a:noFill/>
        </p:spPr>
        <p:txBody>
          <a:bodyPr wrap="square" lIns="0" rIns="0" tIns="0" bIns="0" anchor="t">
            <a:spAutoFit/>
          </a:bodyPr>
          <a:lstStyle/>
          <a:p>
            <a:pPr algn="l">
              <a:lnSpc>
                <a:spcPct val="130000"/>
              </a:lnSpc>
            </a:pPr>
            <a:r>
              <a:rPr sz="1800" b="1" i="0" u="none">
                <a:solidFill>
                  <a:srgbClr val="79AAF7"/>
                </a:solidFill>
                <a:latin typeface="Segoe UI"/>
              </a:rPr>
              <a:t>DEV</a:t>
            </a:r>
          </a:p>
        </p:txBody>
      </p:sp>
      <p:sp>
        <p:nvSpPr>
          <p:cNvPr id="9" name="TextBox 8"/>
          <p:cNvSpPr txBox="1"/>
          <p:nvPr/>
        </p:nvSpPr>
        <p:spPr>
          <a:xfrm>
            <a:off x="7315200" y="2990850"/>
            <a:ext cx="3962400" cy="609600"/>
          </a:xfrm>
          <a:prstGeom prst="rect">
            <a:avLst/>
          </a:prstGeom>
          <a:noFill/>
        </p:spPr>
        <p:txBody>
          <a:bodyPr wrap="square" lIns="0" rIns="0" tIns="0" bIns="0" anchor="t">
            <a:spAutoFit/>
          </a:bodyPr>
          <a:lstStyle/>
          <a:p>
            <a:pPr algn="l">
              <a:lnSpc>
                <a:spcPct val="130000"/>
              </a:lnSpc>
            </a:pPr>
            <a:r>
              <a:rPr sz="1650" b="0" i="0" u="none">
                <a:solidFill>
                  <a:srgbClr val="A4ADBA"/>
                </a:solidFill>
                <a:latin typeface="Segoe UI"/>
              </a:rPr>
              <a:t>Dashboard React, API, firmware</a:t>
            </a:r>
          </a:p>
        </p:txBody>
      </p:sp>
      <p:sp>
        <p:nvSpPr>
          <p:cNvPr id="10" name="Rounded Rectangle 9"/>
          <p:cNvSpPr/>
          <p:nvPr/>
        </p:nvSpPr>
        <p:spPr>
          <a:xfrm>
            <a:off x="914400" y="3638550"/>
            <a:ext cx="57150" cy="32385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62050" y="3600450"/>
            <a:ext cx="4095750" cy="419100"/>
          </a:xfrm>
          <a:prstGeom prst="rect">
            <a:avLst/>
          </a:prstGeom>
          <a:noFill/>
        </p:spPr>
        <p:txBody>
          <a:bodyPr wrap="square" lIns="0" rIns="0" tIns="0" bIns="0" anchor="t">
            <a:spAutoFit/>
          </a:bodyPr>
          <a:lstStyle/>
          <a:p>
            <a:pPr algn="l">
              <a:lnSpc>
                <a:spcPct val="130000"/>
              </a:lnSpc>
            </a:pPr>
            <a:r>
              <a:rPr sz="2100" b="1" i="0" u="none">
                <a:solidFill>
                  <a:srgbClr val="E6E9EE"/>
                </a:solidFill>
                <a:latin typeface="Segoe UI"/>
              </a:rPr>
              <a:t>Mamadou SECK</a:t>
            </a:r>
          </a:p>
        </p:txBody>
      </p:sp>
      <p:sp>
        <p:nvSpPr>
          <p:cNvPr id="12" name="TextBox 11"/>
          <p:cNvSpPr txBox="1"/>
          <p:nvPr/>
        </p:nvSpPr>
        <p:spPr>
          <a:xfrm>
            <a:off x="5448300" y="3638550"/>
            <a:ext cx="1714500" cy="381000"/>
          </a:xfrm>
          <a:prstGeom prst="rect">
            <a:avLst/>
          </a:prstGeom>
          <a:noFill/>
        </p:spPr>
        <p:txBody>
          <a:bodyPr wrap="square" lIns="0" rIns="0" tIns="0" bIns="0" anchor="t">
            <a:spAutoFit/>
          </a:bodyPr>
          <a:lstStyle/>
          <a:p>
            <a:pPr algn="l">
              <a:lnSpc>
                <a:spcPct val="130000"/>
              </a:lnSpc>
            </a:pPr>
            <a:r>
              <a:rPr sz="1800" b="1" i="0" u="none">
                <a:solidFill>
                  <a:srgbClr val="79AAF7"/>
                </a:solidFill>
                <a:latin typeface="Segoe UI"/>
              </a:rPr>
              <a:t>IA &amp; Vision</a:t>
            </a:r>
          </a:p>
        </p:txBody>
      </p:sp>
      <p:sp>
        <p:nvSpPr>
          <p:cNvPr id="13" name="TextBox 12"/>
          <p:cNvSpPr txBox="1"/>
          <p:nvPr/>
        </p:nvSpPr>
        <p:spPr>
          <a:xfrm>
            <a:off x="7315200" y="3638550"/>
            <a:ext cx="3962400" cy="609600"/>
          </a:xfrm>
          <a:prstGeom prst="rect">
            <a:avLst/>
          </a:prstGeom>
          <a:noFill/>
        </p:spPr>
        <p:txBody>
          <a:bodyPr wrap="square" lIns="0" rIns="0" tIns="0" bIns="0" anchor="t">
            <a:spAutoFit/>
          </a:bodyPr>
          <a:lstStyle/>
          <a:p>
            <a:pPr algn="l">
              <a:lnSpc>
                <a:spcPct val="130000"/>
              </a:lnSpc>
            </a:pPr>
            <a:r>
              <a:rPr sz="1650" b="0" i="0" u="none">
                <a:solidFill>
                  <a:srgbClr val="A4ADBA"/>
                </a:solidFill>
                <a:latin typeface="Segoe UI"/>
              </a:rPr>
              <a:t>YOLOv8n, maintenance prédictive</a:t>
            </a:r>
          </a:p>
        </p:txBody>
      </p:sp>
      <p:sp>
        <p:nvSpPr>
          <p:cNvPr id="14" name="Rounded Rectangle 13"/>
          <p:cNvSpPr/>
          <p:nvPr/>
        </p:nvSpPr>
        <p:spPr>
          <a:xfrm>
            <a:off x="914400" y="4286250"/>
            <a:ext cx="57150" cy="32385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62050" y="4248150"/>
            <a:ext cx="4095750" cy="419100"/>
          </a:xfrm>
          <a:prstGeom prst="rect">
            <a:avLst/>
          </a:prstGeom>
          <a:noFill/>
        </p:spPr>
        <p:txBody>
          <a:bodyPr wrap="square" lIns="0" rIns="0" tIns="0" bIns="0" anchor="t">
            <a:spAutoFit/>
          </a:bodyPr>
          <a:lstStyle/>
          <a:p>
            <a:pPr algn="l">
              <a:lnSpc>
                <a:spcPct val="130000"/>
              </a:lnSpc>
            </a:pPr>
            <a:r>
              <a:rPr sz="2100" b="1" i="0" u="none">
                <a:solidFill>
                  <a:srgbClr val="E6E9EE"/>
                </a:solidFill>
                <a:latin typeface="Segoe UI"/>
              </a:rPr>
              <a:t>Arsene ARAYI MBENGUE</a:t>
            </a:r>
          </a:p>
        </p:txBody>
      </p:sp>
      <p:sp>
        <p:nvSpPr>
          <p:cNvPr id="16" name="TextBox 15"/>
          <p:cNvSpPr txBox="1"/>
          <p:nvPr/>
        </p:nvSpPr>
        <p:spPr>
          <a:xfrm>
            <a:off x="5448300" y="4286250"/>
            <a:ext cx="1714500" cy="381000"/>
          </a:xfrm>
          <a:prstGeom prst="rect">
            <a:avLst/>
          </a:prstGeom>
          <a:noFill/>
        </p:spPr>
        <p:txBody>
          <a:bodyPr wrap="square" lIns="0" rIns="0" tIns="0" bIns="0" anchor="t">
            <a:spAutoFit/>
          </a:bodyPr>
          <a:lstStyle/>
          <a:p>
            <a:pPr algn="l">
              <a:lnSpc>
                <a:spcPct val="130000"/>
              </a:lnSpc>
            </a:pPr>
            <a:r>
              <a:rPr sz="1800" b="1" i="0" u="none">
                <a:solidFill>
                  <a:srgbClr val="79AAF7"/>
                </a:solidFill>
                <a:latin typeface="Segoe UI"/>
              </a:rPr>
              <a:t>IA &amp; Données</a:t>
            </a:r>
          </a:p>
        </p:txBody>
      </p:sp>
      <p:sp>
        <p:nvSpPr>
          <p:cNvPr id="17" name="TextBox 16"/>
          <p:cNvSpPr txBox="1"/>
          <p:nvPr/>
        </p:nvSpPr>
        <p:spPr>
          <a:xfrm>
            <a:off x="7315200" y="4286250"/>
            <a:ext cx="3962400" cy="609600"/>
          </a:xfrm>
          <a:prstGeom prst="rect">
            <a:avLst/>
          </a:prstGeom>
          <a:noFill/>
        </p:spPr>
        <p:txBody>
          <a:bodyPr wrap="square" lIns="0" rIns="0" tIns="0" bIns="0" anchor="t">
            <a:spAutoFit/>
          </a:bodyPr>
          <a:lstStyle/>
          <a:p>
            <a:pPr algn="l">
              <a:lnSpc>
                <a:spcPct val="130000"/>
              </a:lnSpc>
            </a:pPr>
            <a:r>
              <a:rPr sz="1650" b="0" i="0" u="none">
                <a:solidFill>
                  <a:srgbClr val="A4ADBA"/>
                </a:solidFill>
                <a:latin typeface="Segoe UI"/>
              </a:rPr>
              <a:t>Intelligence artificielle et données</a:t>
            </a:r>
          </a:p>
        </p:txBody>
      </p:sp>
      <p:sp>
        <p:nvSpPr>
          <p:cNvPr id="18" name="Rounded Rectangle 17"/>
          <p:cNvSpPr/>
          <p:nvPr/>
        </p:nvSpPr>
        <p:spPr>
          <a:xfrm>
            <a:off x="914400" y="4933950"/>
            <a:ext cx="57150" cy="32385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62050" y="4895850"/>
            <a:ext cx="4095750" cy="419100"/>
          </a:xfrm>
          <a:prstGeom prst="rect">
            <a:avLst/>
          </a:prstGeom>
          <a:noFill/>
        </p:spPr>
        <p:txBody>
          <a:bodyPr wrap="square" lIns="0" rIns="0" tIns="0" bIns="0" anchor="t">
            <a:spAutoFit/>
          </a:bodyPr>
          <a:lstStyle/>
          <a:p>
            <a:pPr algn="l">
              <a:lnSpc>
                <a:spcPct val="130000"/>
              </a:lnSpc>
            </a:pPr>
            <a:r>
              <a:rPr sz="2100" b="1" i="0" u="none">
                <a:solidFill>
                  <a:srgbClr val="E6E9EE"/>
                </a:solidFill>
                <a:latin typeface="Segoe UI"/>
              </a:rPr>
              <a:t>Toure Ismahel O. L.</a:t>
            </a:r>
          </a:p>
        </p:txBody>
      </p:sp>
      <p:sp>
        <p:nvSpPr>
          <p:cNvPr id="20" name="TextBox 19"/>
          <p:cNvSpPr txBox="1"/>
          <p:nvPr/>
        </p:nvSpPr>
        <p:spPr>
          <a:xfrm>
            <a:off x="5448300" y="4933950"/>
            <a:ext cx="1714500" cy="381000"/>
          </a:xfrm>
          <a:prstGeom prst="rect">
            <a:avLst/>
          </a:prstGeom>
          <a:noFill/>
        </p:spPr>
        <p:txBody>
          <a:bodyPr wrap="square" lIns="0" rIns="0" tIns="0" bIns="0" anchor="t">
            <a:spAutoFit/>
          </a:bodyPr>
          <a:lstStyle/>
          <a:p>
            <a:pPr algn="l">
              <a:lnSpc>
                <a:spcPct val="130000"/>
              </a:lnSpc>
            </a:pPr>
            <a:r>
              <a:rPr sz="1800" b="1" i="0" u="none">
                <a:solidFill>
                  <a:srgbClr val="79AAF7"/>
                </a:solidFill>
                <a:latin typeface="Segoe UI"/>
              </a:rPr>
              <a:t>INFRA</a:t>
            </a:r>
          </a:p>
        </p:txBody>
      </p:sp>
      <p:sp>
        <p:nvSpPr>
          <p:cNvPr id="21" name="TextBox 20"/>
          <p:cNvSpPr txBox="1"/>
          <p:nvPr/>
        </p:nvSpPr>
        <p:spPr>
          <a:xfrm>
            <a:off x="7315200" y="4933950"/>
            <a:ext cx="3962400" cy="609600"/>
          </a:xfrm>
          <a:prstGeom prst="rect">
            <a:avLst/>
          </a:prstGeom>
          <a:noFill/>
        </p:spPr>
        <p:txBody>
          <a:bodyPr wrap="square" lIns="0" rIns="0" tIns="0" bIns="0" anchor="t">
            <a:spAutoFit/>
          </a:bodyPr>
          <a:lstStyle/>
          <a:p>
            <a:pPr algn="l">
              <a:lnSpc>
                <a:spcPct val="130000"/>
              </a:lnSpc>
            </a:pPr>
            <a:r>
              <a:rPr sz="1650" b="0" i="0" u="none">
                <a:solidFill>
                  <a:srgbClr val="A4ADBA"/>
                </a:solidFill>
                <a:latin typeface="Segoe UI"/>
              </a:rPr>
              <a:t>Docker, MQTTS, PostgreSQL, réseau</a:t>
            </a:r>
          </a:p>
        </p:txBody>
      </p:sp>
      <p:sp>
        <p:nvSpPr>
          <p:cNvPr id="22" name="Rounded Rectangle 21"/>
          <p:cNvSpPr/>
          <p:nvPr/>
        </p:nvSpPr>
        <p:spPr>
          <a:xfrm>
            <a:off x="914400" y="5581650"/>
            <a:ext cx="57150" cy="32385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62050" y="5543550"/>
            <a:ext cx="4095750" cy="419100"/>
          </a:xfrm>
          <a:prstGeom prst="rect">
            <a:avLst/>
          </a:prstGeom>
          <a:noFill/>
        </p:spPr>
        <p:txBody>
          <a:bodyPr wrap="square" lIns="0" rIns="0" tIns="0" bIns="0" anchor="t">
            <a:spAutoFit/>
          </a:bodyPr>
          <a:lstStyle/>
          <a:p>
            <a:pPr algn="l">
              <a:lnSpc>
                <a:spcPct val="130000"/>
              </a:lnSpc>
            </a:pPr>
            <a:r>
              <a:rPr sz="2100" b="1" i="0" u="none">
                <a:solidFill>
                  <a:srgbClr val="E6E9EE"/>
                </a:solidFill>
                <a:latin typeface="Segoe UI"/>
              </a:rPr>
              <a:t>Raoly KOUMOU</a:t>
            </a:r>
          </a:p>
        </p:txBody>
      </p:sp>
      <p:sp>
        <p:nvSpPr>
          <p:cNvPr id="24" name="TextBox 23"/>
          <p:cNvSpPr txBox="1"/>
          <p:nvPr/>
        </p:nvSpPr>
        <p:spPr>
          <a:xfrm>
            <a:off x="5448300" y="5581650"/>
            <a:ext cx="1714500" cy="381000"/>
          </a:xfrm>
          <a:prstGeom prst="rect">
            <a:avLst/>
          </a:prstGeom>
          <a:noFill/>
        </p:spPr>
        <p:txBody>
          <a:bodyPr wrap="square" lIns="0" rIns="0" tIns="0" bIns="0" anchor="t">
            <a:spAutoFit/>
          </a:bodyPr>
          <a:lstStyle/>
          <a:p>
            <a:pPr algn="l">
              <a:lnSpc>
                <a:spcPct val="130000"/>
              </a:lnSpc>
            </a:pPr>
            <a:r>
              <a:rPr sz="1800" b="1" i="0" u="none">
                <a:solidFill>
                  <a:srgbClr val="79AAF7"/>
                </a:solidFill>
                <a:latin typeface="Segoe UI"/>
              </a:rPr>
              <a:t>CYBER</a:t>
            </a:r>
          </a:p>
        </p:txBody>
      </p:sp>
      <p:sp>
        <p:nvSpPr>
          <p:cNvPr id="25" name="TextBox 24"/>
          <p:cNvSpPr txBox="1"/>
          <p:nvPr/>
        </p:nvSpPr>
        <p:spPr>
          <a:xfrm>
            <a:off x="7315200" y="5581650"/>
            <a:ext cx="3962400" cy="609600"/>
          </a:xfrm>
          <a:prstGeom prst="rect">
            <a:avLst/>
          </a:prstGeom>
          <a:noFill/>
        </p:spPr>
        <p:txBody>
          <a:bodyPr wrap="square" lIns="0" rIns="0" tIns="0" bIns="0" anchor="t">
            <a:spAutoFit/>
          </a:bodyPr>
          <a:lstStyle/>
          <a:p>
            <a:pPr algn="l">
              <a:lnSpc>
                <a:spcPct val="130000"/>
              </a:lnSpc>
            </a:pPr>
            <a:r>
              <a:rPr sz="1650" b="0" i="0" u="none">
                <a:solidFill>
                  <a:srgbClr val="A4ADBA"/>
                </a:solidFill>
                <a:latin typeface="Segoe UI"/>
              </a:rPr>
              <a:t>TLS, durcissement, audit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858500" y="628650"/>
            <a:ext cx="419100" cy="419100"/>
          </a:xfrm>
          <a:prstGeom prst="rect">
            <a:avLst/>
          </a:prstGeom>
        </p:spPr>
      </p:pic>
      <p:sp>
        <p:nvSpPr>
          <p:cNvPr id="3" name="TextBox 2"/>
          <p:cNvSpPr txBox="1"/>
          <p:nvPr/>
        </p:nvSpPr>
        <p:spPr>
          <a:xfrm>
            <a:off x="914400" y="685800"/>
            <a:ext cx="7429500" cy="247650"/>
          </a:xfrm>
          <a:prstGeom prst="rect">
            <a:avLst/>
          </a:prstGeom>
          <a:noFill/>
        </p:spPr>
        <p:txBody>
          <a:bodyPr wrap="square" lIns="0" rIns="0" tIns="0" bIns="0" anchor="t">
            <a:spAutoFit/>
          </a:bodyPr>
          <a:lstStyle/>
          <a:p>
            <a:pPr algn="l">
              <a:lnSpc>
                <a:spcPct val="130000"/>
              </a:lnSpc>
            </a:pPr>
            <a:r>
              <a:rPr sz="1280" b="1" i="0" u="none" spc="240">
                <a:solidFill>
                  <a:srgbClr val="79AAF7"/>
                </a:solidFill>
                <a:latin typeface="Segoe UI"/>
              </a:rPr>
              <a:t>LIMITES ASSUMÉES</a:t>
            </a:r>
          </a:p>
        </p:txBody>
      </p:sp>
      <p:sp>
        <p:nvSpPr>
          <p:cNvPr id="4" name="TextBox 3"/>
          <p:cNvSpPr txBox="1"/>
          <p:nvPr/>
        </p:nvSpPr>
        <p:spPr>
          <a:xfrm>
            <a:off x="914400" y="1009650"/>
            <a:ext cx="10363200" cy="1181100"/>
          </a:xfrm>
          <a:prstGeom prst="rect">
            <a:avLst/>
          </a:prstGeom>
          <a:noFill/>
        </p:spPr>
        <p:txBody>
          <a:bodyPr wrap="square" lIns="0" rIns="0" tIns="0" bIns="0" anchor="t">
            <a:spAutoFit/>
          </a:bodyPr>
          <a:lstStyle/>
          <a:p>
            <a:pPr algn="l">
              <a:lnSpc>
                <a:spcPct val="115000"/>
              </a:lnSpc>
            </a:pPr>
            <a:r>
              <a:rPr sz="3900" b="1" i="0" u="none">
                <a:solidFill>
                  <a:srgbClr val="E6E9EE"/>
                </a:solidFill>
                <a:latin typeface="Segoe UI"/>
              </a:rPr>
              <a:t>Ce qui n'est pas fait, et pourquoi</a:t>
            </a:r>
          </a:p>
        </p:txBody>
      </p:sp>
      <p:sp>
        <p:nvSpPr>
          <p:cNvPr id="5" name="Rectangle 4"/>
          <p:cNvSpPr/>
          <p:nvPr/>
        </p:nvSpPr>
        <p:spPr>
          <a:xfrm>
            <a:off x="914400" y="2343150"/>
            <a:ext cx="914400" cy="5715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914400" y="2857500"/>
            <a:ext cx="381000" cy="57150"/>
          </a:xfrm>
          <a:prstGeom prst="roundRect">
            <a:avLst>
              <a:gd name="adj" fmla="val 50000"/>
            </a:avLst>
          </a:prstGeom>
          <a:solidFill>
            <a:srgbClr val="F2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3028950"/>
            <a:ext cx="3810000" cy="419100"/>
          </a:xfrm>
          <a:prstGeom prst="rect">
            <a:avLst/>
          </a:prstGeom>
          <a:noFill/>
        </p:spPr>
        <p:txBody>
          <a:bodyPr wrap="square" lIns="0" rIns="0" tIns="0" bIns="0" anchor="t">
            <a:spAutoFit/>
          </a:bodyPr>
          <a:lstStyle/>
          <a:p>
            <a:pPr algn="l">
              <a:lnSpc>
                <a:spcPct val="130000"/>
              </a:lnSpc>
            </a:pPr>
            <a:r>
              <a:rPr sz="2100" b="1" i="0" u="none">
                <a:solidFill>
                  <a:srgbClr val="E6E9EE"/>
                </a:solidFill>
                <a:latin typeface="Segoe UI"/>
              </a:rPr>
              <a:t>Boîtier virtuel</a:t>
            </a:r>
          </a:p>
        </p:txBody>
      </p:sp>
      <p:sp>
        <p:nvSpPr>
          <p:cNvPr id="8" name="TextBox 7"/>
          <p:cNvSpPr txBox="1"/>
          <p:nvPr/>
        </p:nvSpPr>
        <p:spPr>
          <a:xfrm>
            <a:off x="5029200" y="3028950"/>
            <a:ext cx="6248400" cy="609600"/>
          </a:xfrm>
          <a:prstGeom prst="rect">
            <a:avLst/>
          </a:prstGeom>
          <a:noFill/>
        </p:spPr>
        <p:txBody>
          <a:bodyPr wrap="square" lIns="0" rIns="0" tIns="0" bIns="0" anchor="t">
            <a:spAutoFit/>
          </a:bodyPr>
          <a:lstStyle/>
          <a:p>
            <a:pPr algn="l">
              <a:lnSpc>
                <a:spcPct val="135000"/>
              </a:lnSpc>
            </a:pPr>
            <a:r>
              <a:rPr sz="1650" b="0" i="0" u="none">
                <a:solidFill>
                  <a:srgbClr val="A4ADBA"/>
                </a:solidFill>
                <a:latin typeface="Segoe UI"/>
              </a:rPr>
              <a:t>Même protocole que le firmware ; modèle validé sur données simulées.</a:t>
            </a:r>
          </a:p>
        </p:txBody>
      </p:sp>
      <p:sp>
        <p:nvSpPr>
          <p:cNvPr id="9" name="Rounded Rectangle 8"/>
          <p:cNvSpPr/>
          <p:nvPr/>
        </p:nvSpPr>
        <p:spPr>
          <a:xfrm>
            <a:off x="914400" y="3752850"/>
            <a:ext cx="381000" cy="57150"/>
          </a:xfrm>
          <a:prstGeom prst="roundRect">
            <a:avLst>
              <a:gd name="adj" fmla="val 50000"/>
            </a:avLst>
          </a:prstGeom>
          <a:solidFill>
            <a:srgbClr val="F2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3924300"/>
            <a:ext cx="3810000" cy="419100"/>
          </a:xfrm>
          <a:prstGeom prst="rect">
            <a:avLst/>
          </a:prstGeom>
          <a:noFill/>
        </p:spPr>
        <p:txBody>
          <a:bodyPr wrap="square" lIns="0" rIns="0" tIns="0" bIns="0" anchor="t">
            <a:spAutoFit/>
          </a:bodyPr>
          <a:lstStyle/>
          <a:p>
            <a:pPr algn="l">
              <a:lnSpc>
                <a:spcPct val="130000"/>
              </a:lnSpc>
            </a:pPr>
            <a:r>
              <a:rPr sz="2100" b="1" i="0" u="none">
                <a:solidFill>
                  <a:srgbClr val="E6E9EE"/>
                </a:solidFill>
                <a:latin typeface="Segoe UI"/>
              </a:rPr>
              <a:t>Latence</a:t>
            </a:r>
          </a:p>
        </p:txBody>
      </p:sp>
      <p:sp>
        <p:nvSpPr>
          <p:cNvPr id="11" name="TextBox 10"/>
          <p:cNvSpPr txBox="1"/>
          <p:nvPr/>
        </p:nvSpPr>
        <p:spPr>
          <a:xfrm>
            <a:off x="5029200" y="3924300"/>
            <a:ext cx="6248400" cy="609600"/>
          </a:xfrm>
          <a:prstGeom prst="rect">
            <a:avLst/>
          </a:prstGeom>
          <a:noFill/>
        </p:spPr>
        <p:txBody>
          <a:bodyPr wrap="square" lIns="0" rIns="0" tIns="0" bIns="0" anchor="t">
            <a:spAutoFit/>
          </a:bodyPr>
          <a:lstStyle/>
          <a:p>
            <a:pPr algn="l">
              <a:lnSpc>
                <a:spcPct val="135000"/>
              </a:lnSpc>
            </a:pPr>
            <a:r>
              <a:rPr sz="1650" b="0" i="0" u="none">
                <a:solidFill>
                  <a:srgbClr val="A4ADBA"/>
                </a:solidFill>
                <a:latin typeface="Segoe UI"/>
              </a:rPr>
              <a:t>Sous 100 ms avec YOLO seul ; au-delà avec les visages sur un PC chargé.</a:t>
            </a:r>
          </a:p>
        </p:txBody>
      </p:sp>
      <p:sp>
        <p:nvSpPr>
          <p:cNvPr id="12" name="Rounded Rectangle 11"/>
          <p:cNvSpPr/>
          <p:nvPr/>
        </p:nvSpPr>
        <p:spPr>
          <a:xfrm>
            <a:off x="914400" y="4648200"/>
            <a:ext cx="381000" cy="57150"/>
          </a:xfrm>
          <a:prstGeom prst="roundRect">
            <a:avLst>
              <a:gd name="adj" fmla="val 50000"/>
            </a:avLst>
          </a:prstGeom>
          <a:solidFill>
            <a:srgbClr val="F2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4819650"/>
            <a:ext cx="3810000" cy="419100"/>
          </a:xfrm>
          <a:prstGeom prst="rect">
            <a:avLst/>
          </a:prstGeom>
          <a:noFill/>
        </p:spPr>
        <p:txBody>
          <a:bodyPr wrap="square" lIns="0" rIns="0" tIns="0" bIns="0" anchor="t">
            <a:spAutoFit/>
          </a:bodyPr>
          <a:lstStyle/>
          <a:p>
            <a:pPr algn="l">
              <a:lnSpc>
                <a:spcPct val="130000"/>
              </a:lnSpc>
            </a:pPr>
            <a:r>
              <a:rPr sz="2100" b="1" i="0" u="none">
                <a:solidFill>
                  <a:srgbClr val="E6E9EE"/>
                </a:solidFill>
                <a:latin typeface="Segoe UI"/>
              </a:rPr>
              <a:t>Webcam hors Docker</a:t>
            </a:r>
          </a:p>
        </p:txBody>
      </p:sp>
      <p:sp>
        <p:nvSpPr>
          <p:cNvPr id="14" name="TextBox 13"/>
          <p:cNvSpPr txBox="1"/>
          <p:nvPr/>
        </p:nvSpPr>
        <p:spPr>
          <a:xfrm>
            <a:off x="5029200" y="4819650"/>
            <a:ext cx="6248400" cy="609600"/>
          </a:xfrm>
          <a:prstGeom prst="rect">
            <a:avLst/>
          </a:prstGeom>
          <a:noFill/>
        </p:spPr>
        <p:txBody>
          <a:bodyPr wrap="square" lIns="0" rIns="0" tIns="0" bIns="0" anchor="t">
            <a:spAutoFit/>
          </a:bodyPr>
          <a:lstStyle/>
          <a:p>
            <a:pPr algn="l">
              <a:lnSpc>
                <a:spcPct val="135000"/>
              </a:lnSpc>
            </a:pPr>
            <a:r>
              <a:rPr sz="1650" b="0" i="0" u="none">
                <a:solidFill>
                  <a:srgbClr val="A4ADBA"/>
                </a:solidFill>
                <a:latin typeface="Segoe UI"/>
              </a:rPr>
              <a:t>Docker Desktop n'accède pas à l'USB : vision et backend sur le PC.</a:t>
            </a:r>
          </a:p>
        </p:txBody>
      </p:sp>
      <p:sp>
        <p:nvSpPr>
          <p:cNvPr id="15" name="Rounded Rectangle 14"/>
          <p:cNvSpPr/>
          <p:nvPr/>
        </p:nvSpPr>
        <p:spPr>
          <a:xfrm>
            <a:off x="914400" y="5543550"/>
            <a:ext cx="381000" cy="57150"/>
          </a:xfrm>
          <a:prstGeom prst="roundRect">
            <a:avLst>
              <a:gd name="adj" fmla="val 50000"/>
            </a:avLst>
          </a:prstGeom>
          <a:solidFill>
            <a:srgbClr val="F2B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5715000"/>
            <a:ext cx="3810000" cy="419100"/>
          </a:xfrm>
          <a:prstGeom prst="rect">
            <a:avLst/>
          </a:prstGeom>
          <a:noFill/>
        </p:spPr>
        <p:txBody>
          <a:bodyPr wrap="square" lIns="0" rIns="0" tIns="0" bIns="0" anchor="t">
            <a:spAutoFit/>
          </a:bodyPr>
          <a:lstStyle/>
          <a:p>
            <a:pPr algn="l">
              <a:lnSpc>
                <a:spcPct val="130000"/>
              </a:lnSpc>
            </a:pPr>
            <a:r>
              <a:rPr sz="2100" b="1" i="0" u="none">
                <a:solidFill>
                  <a:srgbClr val="E6E9EE"/>
                </a:solidFill>
                <a:latin typeface="Segoe UI"/>
              </a:rPr>
              <a:t>Trois dépôts</a:t>
            </a:r>
          </a:p>
        </p:txBody>
      </p:sp>
      <p:sp>
        <p:nvSpPr>
          <p:cNvPr id="17" name="TextBox 16"/>
          <p:cNvSpPr txBox="1"/>
          <p:nvPr/>
        </p:nvSpPr>
        <p:spPr>
          <a:xfrm>
            <a:off x="5029200" y="5715000"/>
            <a:ext cx="6248400" cy="609600"/>
          </a:xfrm>
          <a:prstGeom prst="rect">
            <a:avLst/>
          </a:prstGeom>
          <a:noFill/>
        </p:spPr>
        <p:txBody>
          <a:bodyPr wrap="square" lIns="0" rIns="0" tIns="0" bIns="0" anchor="t">
            <a:spAutoFit/>
          </a:bodyPr>
          <a:lstStyle/>
          <a:p>
            <a:pPr algn="l">
              <a:lnSpc>
                <a:spcPct val="135000"/>
              </a:lnSpc>
            </a:pPr>
            <a:r>
              <a:rPr sz="1650" b="0" i="0" u="none">
                <a:solidFill>
                  <a:srgbClr val="A4ADBA"/>
                </a:solidFill>
                <a:latin typeface="Segoe UI"/>
              </a:rPr>
              <a:t>Formats et topics différents, regroupés ensuite en un seul dépôt.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858500" y="628650"/>
            <a:ext cx="419100" cy="419100"/>
          </a:xfrm>
          <a:prstGeom prst="rect">
            <a:avLst/>
          </a:prstGeom>
        </p:spPr>
      </p:pic>
      <p:sp>
        <p:nvSpPr>
          <p:cNvPr id="3" name="TextBox 2"/>
          <p:cNvSpPr txBox="1"/>
          <p:nvPr/>
        </p:nvSpPr>
        <p:spPr>
          <a:xfrm>
            <a:off x="914400" y="685800"/>
            <a:ext cx="7429500" cy="247650"/>
          </a:xfrm>
          <a:prstGeom prst="rect">
            <a:avLst/>
          </a:prstGeom>
          <a:noFill/>
        </p:spPr>
        <p:txBody>
          <a:bodyPr wrap="square" lIns="0" rIns="0" tIns="0" bIns="0" anchor="t">
            <a:spAutoFit/>
          </a:bodyPr>
          <a:lstStyle/>
          <a:p>
            <a:pPr algn="l">
              <a:lnSpc>
                <a:spcPct val="130000"/>
              </a:lnSpc>
            </a:pPr>
            <a:r>
              <a:rPr sz="1280" b="1" i="0" u="none" spc="240">
                <a:solidFill>
                  <a:srgbClr val="79AAF7"/>
                </a:solidFill>
                <a:latin typeface="Segoe UI"/>
              </a:rPr>
              <a:t>AMÉLIORATIONS</a:t>
            </a:r>
          </a:p>
        </p:txBody>
      </p:sp>
      <p:sp>
        <p:nvSpPr>
          <p:cNvPr id="4" name="TextBox 3"/>
          <p:cNvSpPr txBox="1"/>
          <p:nvPr/>
        </p:nvSpPr>
        <p:spPr>
          <a:xfrm>
            <a:off x="914400" y="1009650"/>
            <a:ext cx="10363200" cy="1181100"/>
          </a:xfrm>
          <a:prstGeom prst="rect">
            <a:avLst/>
          </a:prstGeom>
          <a:noFill/>
        </p:spPr>
        <p:txBody>
          <a:bodyPr wrap="square" lIns="0" rIns="0" tIns="0" bIns="0" anchor="t">
            <a:spAutoFit/>
          </a:bodyPr>
          <a:lstStyle/>
          <a:p>
            <a:pPr algn="l">
              <a:lnSpc>
                <a:spcPct val="115000"/>
              </a:lnSpc>
            </a:pPr>
            <a:r>
              <a:rPr sz="3900" b="1" i="0" u="none">
                <a:solidFill>
                  <a:srgbClr val="E6E9EE"/>
                </a:solidFill>
                <a:latin typeface="Segoe UI"/>
              </a:rPr>
              <a:t>Ce que nous ferions ensuite</a:t>
            </a:r>
          </a:p>
        </p:txBody>
      </p:sp>
      <p:sp>
        <p:nvSpPr>
          <p:cNvPr id="5" name="Rectangle 4"/>
          <p:cNvSpPr/>
          <p:nvPr/>
        </p:nvSpPr>
        <p:spPr>
          <a:xfrm>
            <a:off x="914400" y="2343150"/>
            <a:ext cx="914400" cy="5715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914400" y="2857500"/>
            <a:ext cx="3200400" cy="2381250"/>
          </a:xfrm>
          <a:prstGeom prst="roundRect">
            <a:avLst>
              <a:gd name="adj" fmla="val 5600"/>
            </a:avLst>
          </a:prstGeom>
          <a:solidFill>
            <a:srgbClr val="151B23"/>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143000" y="3086100"/>
            <a:ext cx="266700" cy="3810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43000" y="3219450"/>
            <a:ext cx="2743200" cy="685800"/>
          </a:xfrm>
          <a:prstGeom prst="rect">
            <a:avLst/>
          </a:prstGeom>
          <a:noFill/>
        </p:spPr>
        <p:txBody>
          <a:bodyPr wrap="square" lIns="0" rIns="0" tIns="0" bIns="0" anchor="t">
            <a:spAutoFit/>
          </a:bodyPr>
          <a:lstStyle/>
          <a:p>
            <a:pPr algn="l">
              <a:lnSpc>
                <a:spcPct val="130000"/>
              </a:lnSpc>
            </a:pPr>
            <a:r>
              <a:rPr sz="2100" b="1" i="0" u="none">
                <a:solidFill>
                  <a:srgbClr val="E6E9EE"/>
                </a:solidFill>
                <a:latin typeface="Segoe UI"/>
              </a:rPr>
              <a:t>Boîtier réel</a:t>
            </a:r>
          </a:p>
        </p:txBody>
      </p:sp>
      <p:sp>
        <p:nvSpPr>
          <p:cNvPr id="9" name="TextBox 8"/>
          <p:cNvSpPr txBox="1"/>
          <p:nvPr/>
        </p:nvSpPr>
        <p:spPr>
          <a:xfrm>
            <a:off x="1143000" y="3981450"/>
            <a:ext cx="2743200" cy="1009650"/>
          </a:xfrm>
          <a:prstGeom prst="rect">
            <a:avLst/>
          </a:prstGeom>
          <a:noFill/>
        </p:spPr>
        <p:txBody>
          <a:bodyPr wrap="square" lIns="0" rIns="0" tIns="0" bIns="0" anchor="t">
            <a:spAutoFit/>
          </a:bodyPr>
          <a:lstStyle/>
          <a:p>
            <a:pPr algn="l">
              <a:lnSpc>
                <a:spcPct val="145000"/>
              </a:lnSpc>
            </a:pPr>
            <a:r>
              <a:rPr sz="1500" b="0" i="0" u="none">
                <a:solidFill>
                  <a:srgbClr val="A4ADBA"/>
                </a:solidFill>
                <a:latin typeface="Segoe UI"/>
              </a:rPr>
              <a:t>Flasher le firmware et réentraîner l'IA sur les mesures de la salle.</a:t>
            </a:r>
          </a:p>
        </p:txBody>
      </p:sp>
      <p:sp>
        <p:nvSpPr>
          <p:cNvPr id="10" name="Rounded Rectangle 9"/>
          <p:cNvSpPr/>
          <p:nvPr/>
        </p:nvSpPr>
        <p:spPr>
          <a:xfrm>
            <a:off x="4495800" y="2857500"/>
            <a:ext cx="3200400" cy="2381250"/>
          </a:xfrm>
          <a:prstGeom prst="roundRect">
            <a:avLst>
              <a:gd name="adj" fmla="val 5600"/>
            </a:avLst>
          </a:prstGeom>
          <a:solidFill>
            <a:srgbClr val="151B23"/>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724400" y="3086100"/>
            <a:ext cx="266700" cy="3810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724400" y="3219450"/>
            <a:ext cx="2743200" cy="685800"/>
          </a:xfrm>
          <a:prstGeom prst="rect">
            <a:avLst/>
          </a:prstGeom>
          <a:noFill/>
        </p:spPr>
        <p:txBody>
          <a:bodyPr wrap="square" lIns="0" rIns="0" tIns="0" bIns="0" anchor="t">
            <a:spAutoFit/>
          </a:bodyPr>
          <a:lstStyle/>
          <a:p>
            <a:pPr algn="l">
              <a:lnSpc>
                <a:spcPct val="130000"/>
              </a:lnSpc>
            </a:pPr>
            <a:r>
              <a:rPr sz="2100" b="1" i="0" u="none">
                <a:solidFill>
                  <a:srgbClr val="E6E9EE"/>
                </a:solidFill>
                <a:latin typeface="Segoe UI"/>
              </a:rPr>
              <a:t>Vision accélérée</a:t>
            </a:r>
          </a:p>
        </p:txBody>
      </p:sp>
      <p:sp>
        <p:nvSpPr>
          <p:cNvPr id="13" name="TextBox 12"/>
          <p:cNvSpPr txBox="1"/>
          <p:nvPr/>
        </p:nvSpPr>
        <p:spPr>
          <a:xfrm>
            <a:off x="4724400" y="3981450"/>
            <a:ext cx="2743200" cy="1009650"/>
          </a:xfrm>
          <a:prstGeom prst="rect">
            <a:avLst/>
          </a:prstGeom>
          <a:noFill/>
        </p:spPr>
        <p:txBody>
          <a:bodyPr wrap="square" lIns="0" rIns="0" tIns="0" bIns="0" anchor="t">
            <a:spAutoFit/>
          </a:bodyPr>
          <a:lstStyle/>
          <a:p>
            <a:pPr algn="l">
              <a:lnSpc>
                <a:spcPct val="145000"/>
              </a:lnSpc>
            </a:pPr>
            <a:r>
              <a:rPr sz="1500" b="0" i="0" u="none">
                <a:solidFill>
                  <a:srgbClr val="A4ADBA"/>
                </a:solidFill>
                <a:latin typeface="Segoe UI"/>
              </a:rPr>
              <a:t>Une image sur deux, ou un modèle quantifié.</a:t>
            </a:r>
          </a:p>
        </p:txBody>
      </p:sp>
      <p:sp>
        <p:nvSpPr>
          <p:cNvPr id="14" name="Rounded Rectangle 13"/>
          <p:cNvSpPr/>
          <p:nvPr/>
        </p:nvSpPr>
        <p:spPr>
          <a:xfrm>
            <a:off x="8077200" y="2857500"/>
            <a:ext cx="3200400" cy="2381250"/>
          </a:xfrm>
          <a:prstGeom prst="roundRect">
            <a:avLst>
              <a:gd name="adj" fmla="val 5600"/>
            </a:avLst>
          </a:prstGeom>
          <a:solidFill>
            <a:srgbClr val="151B23"/>
          </a:solidFill>
          <a:ln w="9525">
            <a:solidFill>
              <a:srgbClr val="2A32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305800" y="3086100"/>
            <a:ext cx="266700" cy="38100"/>
          </a:xfrm>
          <a:prstGeom prst="roundRect">
            <a:avLst>
              <a:gd name="adj" fmla="val 50000"/>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305800" y="3219450"/>
            <a:ext cx="2743200" cy="685800"/>
          </a:xfrm>
          <a:prstGeom prst="rect">
            <a:avLst/>
          </a:prstGeom>
          <a:noFill/>
        </p:spPr>
        <p:txBody>
          <a:bodyPr wrap="square" lIns="0" rIns="0" tIns="0" bIns="0" anchor="t">
            <a:spAutoFit/>
          </a:bodyPr>
          <a:lstStyle/>
          <a:p>
            <a:pPr algn="l">
              <a:lnSpc>
                <a:spcPct val="130000"/>
              </a:lnSpc>
            </a:pPr>
            <a:r>
              <a:rPr sz="2100" b="1" i="0" u="none">
                <a:solidFill>
                  <a:srgbClr val="E6E9EE"/>
                </a:solidFill>
                <a:latin typeface="Segoe UI"/>
              </a:rPr>
              <a:t>HTTPS de bout en bout</a:t>
            </a:r>
          </a:p>
        </p:txBody>
      </p:sp>
      <p:sp>
        <p:nvSpPr>
          <p:cNvPr id="17" name="TextBox 16"/>
          <p:cNvSpPr txBox="1"/>
          <p:nvPr/>
        </p:nvSpPr>
        <p:spPr>
          <a:xfrm>
            <a:off x="8305800" y="3981450"/>
            <a:ext cx="2743200" cy="1009650"/>
          </a:xfrm>
          <a:prstGeom prst="rect">
            <a:avLst/>
          </a:prstGeom>
          <a:noFill/>
        </p:spPr>
        <p:txBody>
          <a:bodyPr wrap="square" lIns="0" rIns="0" tIns="0" bIns="0" anchor="t">
            <a:spAutoFit/>
          </a:bodyPr>
          <a:lstStyle/>
          <a:p>
            <a:pPr algn="l">
              <a:lnSpc>
                <a:spcPct val="145000"/>
              </a:lnSpc>
            </a:pPr>
            <a:r>
              <a:rPr sz="1500" b="0" i="0" u="none">
                <a:solidFill>
                  <a:srgbClr val="A4ADBA"/>
                </a:solidFill>
                <a:latin typeface="Segoe UI"/>
              </a:rPr>
              <a:t>Reverse proxy TLS devant l'API et le dashboard.</a:t>
            </a:r>
          </a:p>
        </p:txBody>
      </p:sp>
      <p:sp>
        <p:nvSpPr>
          <p:cNvPr id="18" name="TextBox 17"/>
          <p:cNvSpPr txBox="1"/>
          <p:nvPr/>
        </p:nvSpPr>
        <p:spPr>
          <a:xfrm>
            <a:off x="914400" y="5581650"/>
            <a:ext cx="10363200" cy="666750"/>
          </a:xfrm>
          <a:prstGeom prst="rect">
            <a:avLst/>
          </a:prstGeom>
          <a:noFill/>
        </p:spPr>
        <p:txBody>
          <a:bodyPr wrap="square" lIns="0" rIns="0" tIns="0" bIns="0" anchor="t">
            <a:spAutoFit/>
          </a:bodyPr>
          <a:lstStyle/>
          <a:p>
            <a:pPr algn="l">
              <a:lnSpc>
                <a:spcPct val="130000"/>
              </a:lnSpc>
            </a:pPr>
            <a:r>
              <a:rPr sz="2250" b="1" i="0" u="none">
                <a:solidFill>
                  <a:srgbClr val="E6E9EE"/>
                </a:solidFill>
                <a:latin typeface="Segoe UI"/>
              </a:rPr>
              <a:t>Anticiper, pas constater — et le prouver par la mesure.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14400" y="914400"/>
            <a:ext cx="609600" cy="609600"/>
          </a:xfrm>
          <a:prstGeom prst="rect">
            <a:avLst/>
          </a:prstGeom>
        </p:spPr>
      </p:pic>
      <p:sp>
        <p:nvSpPr>
          <p:cNvPr id="3" name="TextBox 2"/>
          <p:cNvSpPr txBox="1"/>
          <p:nvPr/>
        </p:nvSpPr>
        <p:spPr>
          <a:xfrm>
            <a:off x="914400" y="1790700"/>
            <a:ext cx="7620000" cy="247650"/>
          </a:xfrm>
          <a:prstGeom prst="rect">
            <a:avLst/>
          </a:prstGeom>
          <a:noFill/>
        </p:spPr>
        <p:txBody>
          <a:bodyPr wrap="square" lIns="0" rIns="0" tIns="0" bIns="0" anchor="t">
            <a:spAutoFit/>
          </a:bodyPr>
          <a:lstStyle/>
          <a:p>
            <a:pPr algn="l">
              <a:lnSpc>
                <a:spcPct val="130000"/>
              </a:lnSpc>
            </a:pPr>
            <a:r>
              <a:rPr sz="1350" b="1" i="0" u="none" spc="240">
                <a:solidFill>
                  <a:srgbClr val="79AAF7"/>
                </a:solidFill>
                <a:latin typeface="Segoe UI"/>
              </a:rPr>
              <a:t>MERCI</a:t>
            </a:r>
          </a:p>
        </p:txBody>
      </p:sp>
      <p:sp>
        <p:nvSpPr>
          <p:cNvPr id="4" name="TextBox 3"/>
          <p:cNvSpPr txBox="1"/>
          <p:nvPr/>
        </p:nvSpPr>
        <p:spPr>
          <a:xfrm>
            <a:off x="914400" y="2152650"/>
            <a:ext cx="10363200" cy="1428750"/>
          </a:xfrm>
          <a:prstGeom prst="rect">
            <a:avLst/>
          </a:prstGeom>
          <a:noFill/>
        </p:spPr>
        <p:txBody>
          <a:bodyPr wrap="square" lIns="0" rIns="0" tIns="0" bIns="0" anchor="t">
            <a:spAutoFit/>
          </a:bodyPr>
          <a:lstStyle/>
          <a:p>
            <a:pPr algn="l">
              <a:lnSpc>
                <a:spcPct val="110000"/>
              </a:lnSpc>
            </a:pPr>
            <a:r>
              <a:rPr sz="4500" b="1" i="0" u="none">
                <a:solidFill>
                  <a:srgbClr val="E6E9EE"/>
                </a:solidFill>
                <a:latin typeface="Segoe UI"/>
              </a:rPr>
              <a:t>Sentinel-X — la sécurité à la bordure</a:t>
            </a:r>
          </a:p>
        </p:txBody>
      </p:sp>
      <p:sp>
        <p:nvSpPr>
          <p:cNvPr id="5" name="Rectangle 4"/>
          <p:cNvSpPr/>
          <p:nvPr/>
        </p:nvSpPr>
        <p:spPr>
          <a:xfrm>
            <a:off x="914400" y="3810000"/>
            <a:ext cx="2286000" cy="7620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4343400"/>
            <a:ext cx="10363200" cy="1143000"/>
          </a:xfrm>
          <a:prstGeom prst="rect">
            <a:avLst/>
          </a:prstGeom>
          <a:noFill/>
        </p:spPr>
        <p:txBody>
          <a:bodyPr wrap="square" lIns="0" rIns="0" tIns="0" bIns="0" anchor="t">
            <a:spAutoFit/>
          </a:bodyPr>
          <a:lstStyle/>
          <a:p>
            <a:pPr algn="l">
              <a:lnSpc>
                <a:spcPct val="160000"/>
              </a:lnSpc>
            </a:pPr>
            <a:r>
              <a:rPr sz="1800" b="0" i="0" u="none">
                <a:solidFill>
                  <a:srgbClr val="8A94A3"/>
                </a:solidFill>
                <a:latin typeface="Segoe UI"/>
              </a:rPr>
              <a:t>Consortium FORTEX — G20</a:t>
            </a:r>
          </a:p>
          <a:p>
            <a:pPr algn="l">
              <a:lnSpc>
                <a:spcPct val="160000"/>
              </a:lnSpc>
            </a:pPr>
            <a:r>
              <a:rPr sz="1800" b="0" i="0" u="none">
                <a:solidFill>
                  <a:srgbClr val="8A94A3"/>
                </a:solidFill>
                <a:latin typeface="Segoe UI"/>
              </a:rPr>
              <a:t>github.com/Fortexworkshop/ia</a:t>
            </a:r>
          </a:p>
          <a:p>
            <a:pPr algn="l">
              <a:lnSpc>
                <a:spcPct val="160000"/>
              </a:lnSpc>
            </a:pPr>
            <a:r>
              <a:rPr sz="1800" b="0" i="0" u="none">
                <a:solidFill>
                  <a:srgbClr val="8A94A3"/>
                </a:solidFill>
                <a:latin typeface="Segoe UI"/>
              </a:rPr>
              <a:t>Workshop national EPSI Bac+4 · octobre 2026</a:t>
            </a:r>
          </a:p>
        </p:txBody>
      </p:sp>
      <p:sp>
        <p:nvSpPr>
          <p:cNvPr id="7" name="TextBox 6"/>
          <p:cNvSpPr txBox="1"/>
          <p:nvPr/>
        </p:nvSpPr>
        <p:spPr>
          <a:xfrm>
            <a:off x="914400" y="5715000"/>
            <a:ext cx="10363200" cy="571500"/>
          </a:xfrm>
          <a:prstGeom prst="rect">
            <a:avLst/>
          </a:prstGeom>
          <a:noFill/>
        </p:spPr>
        <p:txBody>
          <a:bodyPr wrap="square" lIns="0" rIns="0" tIns="0" bIns="0" anchor="t">
            <a:spAutoFit/>
          </a:bodyPr>
          <a:lstStyle/>
          <a:p>
            <a:pPr algn="l">
              <a:lnSpc>
                <a:spcPct val="130000"/>
              </a:lnSpc>
            </a:pPr>
            <a:r>
              <a:rPr sz="2250" b="1" i="0" u="none">
                <a:solidFill>
                  <a:srgbClr val="A8C8FB"/>
                </a:solidFill>
                <a:latin typeface="Segoe UI"/>
              </a:rPr>
              <a:t>Questions du jury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0858500" y="628650"/>
            <a:ext cx="419100" cy="419100"/>
          </a:xfrm>
          <a:prstGeom prst="rect">
            <a:avLst/>
          </a:prstGeom>
        </p:spPr>
      </p:pic>
      <p:sp>
        <p:nvSpPr>
          <p:cNvPr id="3" name="TextBox 2"/>
          <p:cNvSpPr txBox="1"/>
          <p:nvPr/>
        </p:nvSpPr>
        <p:spPr>
          <a:xfrm>
            <a:off x="914400" y="685800"/>
            <a:ext cx="7429500" cy="247650"/>
          </a:xfrm>
          <a:prstGeom prst="rect">
            <a:avLst/>
          </a:prstGeom>
          <a:noFill/>
        </p:spPr>
        <p:txBody>
          <a:bodyPr wrap="square" lIns="0" rIns="0" tIns="0" bIns="0" anchor="t">
            <a:spAutoFit/>
          </a:bodyPr>
          <a:lstStyle/>
          <a:p>
            <a:pPr algn="l">
              <a:lnSpc>
                <a:spcPct val="130000"/>
              </a:lnSpc>
            </a:pPr>
            <a:r>
              <a:rPr sz="1350" b="1" i="0" u="none" spc="240">
                <a:solidFill>
                  <a:srgbClr val="79AAF7"/>
                </a:solidFill>
                <a:latin typeface="Segoe UI"/>
              </a:rPr>
              <a:t>DÉTAIL — SEUIL APPRIS</a:t>
            </a:r>
          </a:p>
        </p:txBody>
      </p:sp>
      <p:sp>
        <p:nvSpPr>
          <p:cNvPr id="4" name="TextBox 3"/>
          <p:cNvSpPr txBox="1"/>
          <p:nvPr/>
        </p:nvSpPr>
        <p:spPr>
          <a:xfrm>
            <a:off x="914400" y="1009650"/>
            <a:ext cx="10363200" cy="952500"/>
          </a:xfrm>
          <a:prstGeom prst="rect">
            <a:avLst/>
          </a:prstGeom>
          <a:noFill/>
        </p:spPr>
        <p:txBody>
          <a:bodyPr wrap="square" lIns="0" rIns="0" tIns="0" bIns="0" anchor="t">
            <a:spAutoFit/>
          </a:bodyPr>
          <a:lstStyle/>
          <a:p>
            <a:pPr algn="l">
              <a:lnSpc>
                <a:spcPct val="115000"/>
              </a:lnSpc>
            </a:pPr>
            <a:r>
              <a:rPr sz="3450" b="1" i="0" u="none">
                <a:solidFill>
                  <a:srgbClr val="E6E9EE"/>
                </a:solidFill>
                <a:latin typeface="Segoe UI"/>
              </a:rPr>
              <a:t>9 indicateurs par fenêtre de 30 mesures</a:t>
            </a:r>
          </a:p>
        </p:txBody>
      </p:sp>
      <p:sp>
        <p:nvSpPr>
          <p:cNvPr id="5" name="Rectangle 4"/>
          <p:cNvSpPr/>
          <p:nvPr/>
        </p:nvSpPr>
        <p:spPr>
          <a:xfrm>
            <a:off x="914400" y="2343150"/>
            <a:ext cx="914400" cy="57150"/>
          </a:xfrm>
          <a:prstGeom prst="rect">
            <a:avLst/>
          </a:prstGeom>
          <a:solidFill>
            <a:srgbClr val="79A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781300"/>
            <a:ext cx="6096000" cy="3143250"/>
          </a:xfrm>
          <a:prstGeom prst="rect">
            <a:avLst/>
          </a:prstGeom>
          <a:noFill/>
        </p:spPr>
        <p:txBody>
          <a:bodyPr wrap="square" lIns="0" rIns="0" tIns="0" bIns="0" anchor="t">
            <a:spAutoFit/>
          </a:bodyPr>
          <a:lstStyle/>
          <a:p>
            <a:pPr algn="l">
              <a:lnSpc>
                <a:spcPct val="150000"/>
              </a:lnSpc>
            </a:pPr>
            <a:r>
              <a:rPr sz="1950" b="1" i="0" u="none">
                <a:solidFill>
                  <a:srgbClr val="A4ADBA"/>
                </a:solidFill>
                <a:latin typeface="Segoe UI"/>
              </a:rPr>
              <a:t>Niveau</a:t>
            </a:r>
            <a:r>
              <a:rPr sz="1950" b="1" i="0" u="none">
                <a:solidFill>
                  <a:srgbClr val="A4ADBA"/>
                </a:solidFill>
                <a:latin typeface="Segoe UI"/>
              </a:rPr>
              <a:t> — température, humidité, gaz</a:t>
            </a:r>
          </a:p>
          <a:p>
            <a:pPr algn="l">
              <a:lnSpc>
                <a:spcPct val="150000"/>
              </a:lnSpc>
            </a:pPr>
            <a:r>
              <a:rPr sz="1950" b="0" i="0" u="none">
                <a:solidFill>
                  <a:srgbClr val="A4ADBA"/>
                </a:solidFill>
                <a:latin typeface="Segoe UI"/>
              </a:rPr>
              <a:t/>
            </a:r>
          </a:p>
          <a:p>
            <a:pPr algn="l">
              <a:lnSpc>
                <a:spcPct val="150000"/>
              </a:lnSpc>
            </a:pPr>
            <a:r>
              <a:rPr sz="1950" b="1" i="0" u="none">
                <a:solidFill>
                  <a:srgbClr val="A4ADBA"/>
                </a:solidFill>
                <a:latin typeface="Segoe UI"/>
              </a:rPr>
              <a:t>Variabilité</a:t>
            </a:r>
            <a:r>
              <a:rPr sz="1950" b="1" i="0" u="none">
                <a:solidFill>
                  <a:srgbClr val="A4ADBA"/>
                </a:solidFill>
                <a:latin typeface="Segoe UI"/>
              </a:rPr>
              <a:t> — écart-type</a:t>
            </a:r>
          </a:p>
          <a:p>
            <a:pPr algn="l">
              <a:lnSpc>
                <a:spcPct val="150000"/>
              </a:lnSpc>
            </a:pPr>
            <a:r>
              <a:rPr sz="1950" b="0" i="0" u="none">
                <a:solidFill>
                  <a:srgbClr val="A4ADBA"/>
                </a:solidFill>
                <a:latin typeface="Segoe UI"/>
              </a:rPr>
              <a:t/>
            </a:r>
          </a:p>
          <a:p>
            <a:pPr algn="l">
              <a:lnSpc>
                <a:spcPct val="150000"/>
              </a:lnSpc>
            </a:pPr>
            <a:r>
              <a:rPr sz="1950" b="1" i="0" u="none">
                <a:solidFill>
                  <a:srgbClr val="A4ADBA"/>
                </a:solidFill>
                <a:latin typeface="Segoe UI"/>
              </a:rPr>
              <a:t>Dynamique</a:t>
            </a:r>
            <a:r>
              <a:rPr sz="1950" b="1" i="0" u="none">
                <a:solidFill>
                  <a:srgbClr val="A4ADBA"/>
                </a:solidFill>
                <a:latin typeface="Segoe UI"/>
              </a:rPr>
              <a:t> — pentes</a:t>
            </a:r>
          </a:p>
          <a:p>
            <a:pPr algn="l">
              <a:lnSpc>
                <a:spcPct val="150000"/>
              </a:lnSpc>
            </a:pPr>
            <a:r>
              <a:rPr sz="1950" b="0" i="0" u="none">
                <a:solidFill>
                  <a:srgbClr val="A4ADBA"/>
                </a:solidFill>
                <a:latin typeface="Segoe UI"/>
              </a:rPr>
              <a:t/>
            </a:r>
          </a:p>
          <a:p>
            <a:pPr algn="l">
              <a:lnSpc>
                <a:spcPct val="150000"/>
              </a:lnSpc>
            </a:pPr>
            <a:r>
              <a:rPr sz="1950" b="1" i="0" u="none">
                <a:solidFill>
                  <a:srgbClr val="A4ADBA"/>
                </a:solidFill>
                <a:latin typeface="Segoe UI"/>
              </a:rPr>
              <a:t>Couplage</a:t>
            </a:r>
            <a:r>
              <a:rPr sz="1950" b="1" i="0" u="none">
                <a:solidFill>
                  <a:srgbClr val="A4ADBA"/>
                </a:solidFill>
                <a:latin typeface="Segoe UI"/>
              </a:rPr>
              <a:t> — corrélation température / gaz</a:t>
            </a:r>
          </a:p>
        </p:txBody>
      </p:sp>
      <p:sp>
        <p:nvSpPr>
          <p:cNvPr id="7" name="TextBox 6"/>
          <p:cNvSpPr txBox="1"/>
          <p:nvPr/>
        </p:nvSpPr>
        <p:spPr>
          <a:xfrm>
            <a:off x="7620000" y="2781300"/>
            <a:ext cx="3657600" cy="3143250"/>
          </a:xfrm>
          <a:prstGeom prst="rect">
            <a:avLst/>
          </a:prstGeom>
          <a:noFill/>
        </p:spPr>
        <p:txBody>
          <a:bodyPr wrap="square" lIns="0" rIns="0" tIns="0" bIns="0" anchor="t">
            <a:spAutoFit/>
          </a:bodyPr>
          <a:lstStyle/>
          <a:p>
            <a:pPr algn="l">
              <a:lnSpc>
                <a:spcPct val="145000"/>
              </a:lnSpc>
            </a:pPr>
            <a:r>
              <a:rPr sz="1800" b="1" i="0" u="none">
                <a:solidFill>
                  <a:srgbClr val="A4ADBA"/>
                </a:solidFill>
                <a:latin typeface="Segoe UI"/>
              </a:rPr>
              <a:t>Le seuil est appris.</a:t>
            </a:r>
          </a:p>
          <a:p>
            <a:pPr algn="l">
              <a:lnSpc>
                <a:spcPct val="145000"/>
              </a:lnSpc>
            </a:pPr>
            <a:r>
              <a:rPr sz="1800" b="0" i="0" u="none">
                <a:solidFill>
                  <a:srgbClr val="A4ADBA"/>
                </a:solidFill>
                <a:latin typeface="Segoe UI"/>
              </a:rPr>
              <a:t/>
            </a:r>
          </a:p>
          <a:p>
            <a:pPr algn="l">
              <a:lnSpc>
                <a:spcPct val="145000"/>
              </a:lnSpc>
            </a:pPr>
            <a:r>
              <a:rPr sz="1800" b="0" i="0" u="none">
                <a:solidFill>
                  <a:srgbClr val="A4ADBA"/>
                </a:solidFill>
                <a:latin typeface="Segoe UI"/>
              </a:rPr>
              <a:t>Le sujet interdit les conditions statiques : il est déduit des données normales.</a:t>
            </a:r>
          </a:p>
          <a:p>
            <a:pPr algn="l">
              <a:lnSpc>
                <a:spcPct val="145000"/>
              </a:lnSpc>
            </a:pPr>
            <a:r>
              <a:rPr sz="1800" b="0" i="0" u="none">
                <a:solidFill>
                  <a:srgbClr val="A4ADBA"/>
                </a:solidFill>
                <a:latin typeface="Segoe UI"/>
              </a:rPr>
              <a:t/>
            </a:r>
          </a:p>
          <a:p>
            <a:pPr algn="l">
              <a:lnSpc>
                <a:spcPct val="145000"/>
              </a:lnSpc>
            </a:pPr>
            <a:r>
              <a:rPr sz="1800" b="0" i="0" u="none">
                <a:solidFill>
                  <a:srgbClr val="A4ADBA"/>
                </a:solidFill>
                <a:latin typeface="Segoe UI"/>
              </a:rPr>
              <a:t>L'alerte attend </a:t>
            </a:r>
            <a:r>
              <a:rPr sz="1800" b="1" i="0" u="none">
                <a:solidFill>
                  <a:srgbClr val="A4ADBA"/>
                </a:solidFill>
                <a:latin typeface="Segoe UI"/>
              </a:rPr>
              <a:t>10 fenêtres anormales consécutives</a:t>
            </a:r>
            <a:r>
              <a:rPr sz="1800" b="1" i="0" u="none">
                <a:solidFill>
                  <a:srgbClr val="A4ADBA"/>
                </a:solidFill>
                <a:latin typeface="Segoe UI"/>
              </a:rPr>
              <a:t>.</a:t>
            </a:r>
          </a:p>
        </p:txBody>
      </p:sp>
      <p:sp>
        <p:nvSpPr>
          <p:cNvPr id="8" name="Rectangle 7"/>
          <p:cNvSpPr/>
          <p:nvPr/>
        </p:nvSpPr>
        <p:spPr>
          <a:xfrm>
            <a:off x="0" y="0"/>
            <a:ext cx="12192000"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